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Systems-Level Reliability Evaluation for Document AI: Bridging the Perception-Cognition Gap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**Master's Defense Presentation**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1. The Challenge: Reliability in Document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The Pr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blem: 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erprise appli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eman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a 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bus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appr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rrup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when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ing inf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fr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mplex PDFs (inv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es, me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 re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s, finan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ial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rms).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VQ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ure: We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ynami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ally frame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as 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umen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Visual Ques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nswering (D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VQ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), using Large Language 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els (LLMs) as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gni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ive reas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ning engine.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The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gni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Gap: While LLMs are linguis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ally brillian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,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hey la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k spa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ial awareness. They mus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rely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ernal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layers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ers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Resear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 Gap: Curren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sys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ems ei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her fla</a:t>
            </a:r>
            <a:r>
              <a:rPr sz="2800">
                <a:solidFill>
                  <a:srgbClr val="323232"/>
                </a:solidFill>
                <a:latin typeface="Arial"/>
              </a:rPr>
              <a:t>tt</a:t>
            </a:r>
            <a:r>
              <a:rPr sz="2800">
                <a:solidFill>
                  <a:srgbClr val="323232"/>
                </a:solidFill>
                <a:latin typeface="Arial"/>
              </a:rPr>
              <a:t>en </a:t>
            </a:r>
            <a:r>
              <a:rPr sz="2800">
                <a:solidFill>
                  <a:srgbClr val="323232"/>
                </a:solidFill>
                <a:latin typeface="Arial"/>
              </a:rPr>
              <a:t>doc</a:t>
            </a:r>
            <a:r>
              <a:rPr sz="2800">
                <a:solidFill>
                  <a:srgbClr val="323232"/>
                </a:solidFill>
                <a:latin typeface="Arial"/>
              </a:rPr>
              <a:t>umen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s, 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sing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ru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ure (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nal OCR),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suffer fr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 res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hallu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ina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ue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inpu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rain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 (en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-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-en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VLMs).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2. 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3. Methodology: Modular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Swappable Per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Layers: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Tessera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(Tra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nal baseline)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Pa</a:t>
            </a:r>
            <a:r>
              <a:rPr sz="2800">
                <a:solidFill>
                  <a:srgbClr val="323232"/>
                </a:solidFill>
                <a:latin typeface="Arial"/>
              </a:rPr>
              <a:t>dd</a:t>
            </a:r>
            <a:r>
              <a:rPr sz="2800">
                <a:solidFill>
                  <a:srgbClr val="323232"/>
                </a:solidFill>
                <a:latin typeface="Arial"/>
              </a:rPr>
              <a:t>leOCR (Deep-learning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n)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VLM (En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-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-en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mul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al 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n)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Hybri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(Dual-s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syn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niza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3 / 9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6690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4. Mathematical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/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NLS (3.1): Measures 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similari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(S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ring 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OCR n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ise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leran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e).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Exa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Ma</a:t>
            </a:r>
            <a:r>
              <a:rPr sz="2800">
                <a:solidFill>
                  <a:srgbClr val="323232"/>
                </a:solidFill>
                <a:latin typeface="Arial"/>
              </a:rPr>
              <a:t>tc</a:t>
            </a:r>
            <a:r>
              <a:rPr sz="2800">
                <a:solidFill>
                  <a:srgbClr val="323232"/>
                </a:solidFill>
                <a:latin typeface="Arial"/>
              </a:rPr>
              <a:t>h (3.2):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bs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 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sim(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hbf{P},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hbf{G}) = 1.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F1-S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re (3.3): Harm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mean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 Pre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 in 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rieval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sine Similari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(3.4): sim(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hbf{q},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}) =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fra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{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hbf{q} </a:t>
            </a:r>
            <a:r>
              <a:rPr sz="2800">
                <a:solidFill>
                  <a:srgbClr val="323232"/>
                </a:solidFill>
                <a:latin typeface="Arial"/>
              </a:rPr>
              <a:t>\cdot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}}{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hbf{q}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 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ma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hbf{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}</a:t>
            </a:r>
            <a:r>
              <a:rPr sz="2800">
                <a:solidFill>
                  <a:srgbClr val="323232"/>
                </a:solidFill>
                <a:latin typeface="Arial"/>
              </a:rPr>
              <a:t>\</a:t>
            </a:r>
            <a:r>
              <a:rPr sz="2800">
                <a:solidFill>
                  <a:srgbClr val="323232"/>
                </a:solidFill>
                <a:latin typeface="Arial"/>
              </a:rPr>
              <a:t>|}.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Thr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ughpu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(3.5): S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alabili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me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(Tp = 1/L).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5. The Hybrid Perception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5486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Dual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gi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: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1: 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eral OCR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pre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(Pa</a:t>
            </a:r>
            <a:r>
              <a:rPr sz="2800">
                <a:solidFill>
                  <a:srgbClr val="323232"/>
                </a:solidFill>
                <a:latin typeface="Arial"/>
              </a:rPr>
              <a:t>dd</a:t>
            </a:r>
            <a:r>
              <a:rPr sz="2800">
                <a:solidFill>
                  <a:srgbClr val="323232"/>
                </a:solidFill>
                <a:latin typeface="Arial"/>
              </a:rPr>
              <a:t>leOCR).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2: Seman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VLM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ers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G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al: 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mbining 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eral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gr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spa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ial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5 / 9</a:t>
            </a:r>
          </a:p>
        </p:txBody>
      </p:sp>
      <p:pic>
        <p:nvPicPr>
          <p:cNvPr id="5" name="Picture 4" descr="hybri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5381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6.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7. Error Analysis and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Res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Hallu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ina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ns: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ne VLMs pr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babilis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ally guess numbers when inpu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pa</a:t>
            </a:r>
            <a:r>
              <a:rPr sz="2800">
                <a:solidFill>
                  <a:srgbClr val="323232"/>
                </a:solidFill>
                <a:latin typeface="Arial"/>
              </a:rPr>
              <a:t>tc</a:t>
            </a:r>
            <a:r>
              <a:rPr sz="2800">
                <a:solidFill>
                  <a:srgbClr val="323232"/>
                </a:solidFill>
                <a:latin typeface="Arial"/>
              </a:rPr>
              <a:t>hes are </a:t>
            </a:r>
            <a:r>
              <a:rPr sz="2800">
                <a:solidFill>
                  <a:srgbClr val="323232"/>
                </a:solidFill>
                <a:latin typeface="Arial"/>
              </a:rPr>
              <a:t>do</a:t>
            </a:r>
            <a:r>
              <a:rPr sz="2800">
                <a:solidFill>
                  <a:srgbClr val="323232"/>
                </a:solidFill>
                <a:latin typeface="Arial"/>
              </a:rPr>
              <a:t>wnsample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, genera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ing plausible bu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in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rre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answers.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Fragmen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n: Tra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nal OCR rea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s 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lumns,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egra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 seman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rela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nships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p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is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ning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rieval in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ex.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rieval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mbigui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y: F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ISS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ruggles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repea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values (e.g., "$0.00") in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ense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ables, re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rieving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rre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ring fr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wr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ng ge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8. Reproducibility &amp;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Repr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ibili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y: 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ular ar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ure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publi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cod</a:t>
            </a:r>
            <a:r>
              <a:rPr sz="2800">
                <a:solidFill>
                  <a:srgbClr val="323232"/>
                </a:solidFill>
                <a:latin typeface="Arial"/>
              </a:rPr>
              <a:t>e, fixe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nfigura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ns,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evalua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s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rip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full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ransparen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y.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s: High-risk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epl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ymen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(Me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al/Finan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e) requires human-in-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he-l</a:t>
            </a:r>
            <a:r>
              <a:rPr sz="2800">
                <a:solidFill>
                  <a:srgbClr val="323232"/>
                </a:solidFill>
                <a:latin typeface="Arial"/>
              </a:rPr>
              <a:t>oo</a:t>
            </a:r>
            <a:r>
              <a:rPr sz="2800">
                <a:solidFill>
                  <a:srgbClr val="323232"/>
                </a:solidFill>
                <a:latin typeface="Arial"/>
              </a:rPr>
              <a:t>p verifi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n. Hallu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ina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suppressi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is an e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 requiremen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 in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egri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9. Conclusion, Limitations,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828800"/>
            <a:ext cx="10058400" cy="0"/>
          </a:xfrm>
        </p:spPr>
        <p:txBody>
          <a:bodyPr>
            <a:normAutofit/>
          </a:bodyPr>
          <a:lstStyle/>
          <a:p/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lusi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n: Fusing 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eral 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hara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er gr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ing wi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 seman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awareness is essen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ial f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suppressing res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n-l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hallu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ina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 in mul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al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asks.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Limi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ns: The Hybri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ar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ure exhibi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 signifi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mpu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nal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verhea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,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experimen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 were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ns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raine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by CPU limi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ns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a 50-</a:t>
            </a:r>
            <a:r>
              <a:rPr sz="2800">
                <a:solidFill>
                  <a:srgbClr val="323232"/>
                </a:solidFill>
                <a:latin typeface="Arial"/>
              </a:rPr>
              <a:t>doc</a:t>
            </a:r>
            <a:r>
              <a:rPr sz="2800">
                <a:solidFill>
                  <a:srgbClr val="323232"/>
                </a:solidFill>
                <a:latin typeface="Arial"/>
              </a:rPr>
              <a:t>umen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 vali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s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ale.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/>
            </a:r>
            <a:r>
              <a:rPr sz="2800" b="1">
                <a:solidFill>
                  <a:srgbClr val="1E3A8A"/>
                </a:solidFill>
                <a:latin typeface="Arial"/>
              </a:rPr>
              <a:t>B</a:t>
            </a:r>
            <a:r>
              <a:rPr sz="2800">
                <a:solidFill>
                  <a:srgbClr val="323232"/>
                </a:solidFill>
                <a:latin typeface="Arial"/>
              </a:rPr>
              <a:t>en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hmark C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ex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: L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w abs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lu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 </a:t>
            </a:r>
            <a:r>
              <a:rPr sz="2800" b="1">
                <a:solidFill>
                  <a:srgbClr val="1E3A8A"/>
                </a:solidFill>
                <a:latin typeface="Arial"/>
              </a:rPr>
              <a:t>A</a:t>
            </a:r>
            <a:r>
              <a:rPr sz="2800">
                <a:solidFill>
                  <a:srgbClr val="323232"/>
                </a:solidFill>
                <a:latin typeface="Arial"/>
              </a:rPr>
              <a:t>NLS s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res refle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 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ri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 zer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-sh</a:t>
            </a:r>
            <a:r>
              <a:rPr sz="2800">
                <a:solidFill>
                  <a:srgbClr val="323232"/>
                </a:solidFill>
                <a:latin typeface="Arial"/>
              </a:rPr>
              <a:t>ot</a:t>
            </a:r>
            <a:r>
              <a:rPr sz="2800">
                <a:solidFill>
                  <a:srgbClr val="323232"/>
                </a:solidFill>
                <a:latin typeface="Arial"/>
              </a:rPr>
              <a:t> evalua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pr</a:t>
            </a:r>
            <a:r>
              <a:rPr sz="2800">
                <a:solidFill>
                  <a:srgbClr val="323232"/>
                </a:solidFill>
                <a:latin typeface="Arial"/>
              </a:rPr>
              <a:t>otoco</a:t>
            </a:r>
            <a:r>
              <a:rPr sz="2800">
                <a:solidFill>
                  <a:srgbClr val="323232"/>
                </a:solidFill>
                <a:latin typeface="Arial"/>
              </a:rPr>
              <a:t>l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n high-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mplexi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s, ra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her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han 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el ins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abili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y. </a:t>
            </a:r>
            <a:r>
              <a:rPr sz="2800" b="1">
                <a:solidFill>
                  <a:srgbClr val="1E3A8A"/>
                </a:solidFill>
                <a:latin typeface="Arial"/>
              </a:rPr>
              <a:t>B</a:t>
            </a:r>
            <a:r>
              <a:rPr sz="2800">
                <a:solidFill>
                  <a:srgbClr val="323232"/>
                </a:solidFill>
                <a:latin typeface="Arial"/>
              </a:rPr>
              <a:t>aseline m</a:t>
            </a:r>
            <a:r>
              <a:rPr sz="2800">
                <a:solidFill>
                  <a:srgbClr val="323232"/>
                </a:solidFill>
                <a:latin typeface="Arial"/>
              </a:rPr>
              <a:t>od</a:t>
            </a:r>
            <a:r>
              <a:rPr sz="2800">
                <a:solidFill>
                  <a:srgbClr val="323232"/>
                </a:solidFill>
                <a:latin typeface="Arial"/>
              </a:rPr>
              <a:t>els like Lay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LMv3 were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mi</a:t>
            </a:r>
            <a:r>
              <a:rPr sz="2800">
                <a:solidFill>
                  <a:srgbClr val="323232"/>
                </a:solidFill>
                <a:latin typeface="Arial"/>
              </a:rPr>
              <a:t>tt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ue </a:t>
            </a:r>
            <a:r>
              <a:rPr sz="2800">
                <a:solidFill>
                  <a:srgbClr val="323232"/>
                </a:solidFill>
                <a:latin typeface="Arial"/>
              </a:rPr>
              <a:t>to</a:t>
            </a:r>
            <a:r>
              <a:rPr sz="2800">
                <a:solidFill>
                  <a:srgbClr val="323232"/>
                </a:solidFill>
                <a:latin typeface="Arial"/>
              </a:rPr>
              <a:t> la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k 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f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ask-spe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ifi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fine-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uning res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ur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es.</a:t>
            </a:r>
          </a:p>
          <a:p>
            <a:pPr algn="l">
              <a:spcAft>
                <a:spcPts val="1800"/>
              </a:spcAft>
            </a:pPr>
            <a:r>
              <a:rPr sz="2800">
                <a:solidFill>
                  <a:srgbClr val="323232"/>
                </a:solidFill>
                <a:latin typeface="Arial"/>
              </a:rPr>
              <a:t>Fu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ure W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rk: Op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imizing Dual-S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ream la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en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y via GPU-a</a:t>
            </a:r>
            <a:r>
              <a:rPr sz="2800">
                <a:solidFill>
                  <a:srgbClr val="323232"/>
                </a:solidFill>
                <a:latin typeface="Arial"/>
              </a:rPr>
              <a:t>cc</a:t>
            </a:r>
            <a:r>
              <a:rPr sz="2800">
                <a:solidFill>
                  <a:srgbClr val="323232"/>
                </a:solidFill>
                <a:latin typeface="Arial"/>
              </a:rPr>
              <a:t>elera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ens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 pr</a:t>
            </a:r>
            <a:r>
              <a:rPr sz="2800">
                <a:solidFill>
                  <a:srgbClr val="323232"/>
                </a:solidFill>
                <a:latin typeface="Arial"/>
              </a:rPr>
              <a:t>oc</a:t>
            </a:r>
            <a:r>
              <a:rPr sz="2800">
                <a:solidFill>
                  <a:srgbClr val="323232"/>
                </a:solidFill>
                <a:latin typeface="Arial"/>
              </a:rPr>
              <a:t>essing an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 s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aling a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r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ss </a:t>
            </a:r>
            <a:r>
              <a:rPr sz="2800">
                <a:solidFill>
                  <a:srgbClr val="323232"/>
                </a:solidFill>
                <a:latin typeface="Arial"/>
              </a:rPr>
              <a:t>d</a:t>
            </a:r>
            <a:r>
              <a:rPr sz="2800">
                <a:solidFill>
                  <a:srgbClr val="323232"/>
                </a:solidFill>
                <a:latin typeface="Arial"/>
              </a:rPr>
              <a:t>ense </a:t>
            </a:r>
            <a:r>
              <a:rPr sz="2800">
                <a:solidFill>
                  <a:srgbClr val="323232"/>
                </a:solidFill>
                <a:latin typeface="Arial"/>
              </a:rPr>
              <a:t>t</a:t>
            </a:r>
            <a:r>
              <a:rPr sz="2800">
                <a:solidFill>
                  <a:srgbClr val="323232"/>
                </a:solidFill>
                <a:latin typeface="Arial"/>
              </a:rPr>
              <a:t>abular-spe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ifi</a:t>
            </a:r>
            <a:r>
              <a:rPr sz="2800">
                <a:solidFill>
                  <a:srgbClr val="323232"/>
                </a:solidFill>
                <a:latin typeface="Arial"/>
              </a:rPr>
              <a:t>c</a:t>
            </a:r>
            <a:r>
              <a:rPr sz="2800">
                <a:solidFill>
                  <a:srgbClr val="323232"/>
                </a:solidFill>
                <a:latin typeface="Arial"/>
              </a:rPr>
              <a:t> </a:t>
            </a:r>
            <a:r>
              <a:rPr sz="2800">
                <a:solidFill>
                  <a:srgbClr val="323232"/>
                </a:solidFill>
                <a:latin typeface="Arial"/>
              </a:rPr>
              <a:t>co</a:t>
            </a:r>
            <a:r>
              <a:rPr sz="2800">
                <a:solidFill>
                  <a:srgbClr val="323232"/>
                </a:solidFill>
                <a:latin typeface="Arial"/>
              </a:rPr>
              <a:t>rp</a:t>
            </a:r>
            <a:r>
              <a:rPr sz="2800">
                <a:solidFill>
                  <a:srgbClr val="323232"/>
                </a:solidFill>
                <a:latin typeface="Arial"/>
              </a:rPr>
              <a:t>o</a:t>
            </a:r>
            <a:r>
              <a:rPr sz="2800">
                <a:solidFill>
                  <a:srgbClr val="323232"/>
                </a:solidFill>
                <a:latin typeface="Arial"/>
              </a:rPr>
              <a:t>ra (e.g., TabFa</a:t>
            </a:r>
            <a:r>
              <a:rPr sz="2800">
                <a:solidFill>
                  <a:srgbClr val="323232"/>
                </a:solidFill>
                <a:latin typeface="Arial"/>
              </a:rPr>
              <a:t>ct</a:t>
            </a:r>
            <a:r>
              <a:rPr sz="2800">
                <a:solidFill>
                  <a:srgbClr val="323232"/>
                </a:solidFill>
                <a:latin typeface="Arial"/>
              </a:rPr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E3A8A"/>
                </a:solidFill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