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defRPr b="1" sz="4800">
                <a:solidFill>
                  <a:srgbClr val="FFFFFF"/>
                </a:solidFill>
              </a:defRPr>
            </a:pPr>
            <a:r>
              <a:t>Systems-Level Reliability and Robustness Evaluation Framework for Document AI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**Master's Thesis Defense**</a:t>
            </a:r>
          </a:p>
          <a:p>
            <a:pPr algn="ctr">
              <a:defRPr sz="2800">
                <a:solidFill>
                  <a:srgbClr val="FFFFFF"/>
                </a:solidFill>
              </a:defRPr>
            </a:pPr>
            <a:r>
              <a:t>Bridging the Perception-Cognition Gap in Multimodal Reasoning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The Motivation: High-Risk Document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45920"/>
            <a:ext cx="10972800" cy="0"/>
          </a:xfrm>
        </p:spPr>
        <p:txBody>
          <a:bodyPr/>
          <a:lstStyle/>
          <a:p/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/>
            </a:r>
            <a:r>
              <a:rPr b="1" sz="2400">
                <a:solidFill>
                  <a:srgbClr val="000000"/>
                </a:solidFill>
                <a:latin typeface="Calibri"/>
              </a:rPr>
              <a:t>The Challenge</a:t>
            </a:r>
            <a:r>
              <a:rPr sz="2400">
                <a:solidFill>
                  <a:srgbClr val="000000"/>
                </a:solidFill>
                <a:latin typeface="Calibri"/>
              </a:rPr>
              <a:t>: Mission-critical sectors (Finance, Healthcare) require exact precision from unstructured PDFs.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/>
            </a:r>
            <a:r>
              <a:rPr b="1" sz="2400">
                <a:solidFill>
                  <a:srgbClr val="000000"/>
                </a:solidFill>
                <a:latin typeface="Calibri"/>
              </a:rPr>
              <a:t>The Bottleneck</a:t>
            </a:r>
            <a:r>
              <a:rPr sz="2400">
                <a:solidFill>
                  <a:srgbClr val="000000"/>
                </a:solidFill>
                <a:latin typeface="Calibri"/>
              </a:rPr>
              <a:t>: Standalone Large Language Models (LLMs) are linguistically robust but lack spatial awareness of document geometries.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/>
            </a:r>
            <a:r>
              <a:rPr b="1" sz="2400">
                <a:solidFill>
                  <a:srgbClr val="000000"/>
                </a:solidFill>
                <a:latin typeface="Calibri"/>
              </a:rPr>
              <a:t>The Perception-Cognition Gap</a:t>
            </a:r>
            <a:r>
              <a:rPr sz="2400">
                <a:solidFill>
                  <a:srgbClr val="000000"/>
                </a:solidFill>
                <a:latin typeface="Calibri"/>
              </a:rPr>
              <a:t>: A fundamental disconnect between a model's reasoning capacity and its ability to "see" fine-grained textual evidence.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/>
            </a:r>
            <a:r>
              <a:rPr b="1" sz="2400">
                <a:solidFill>
                  <a:srgbClr val="000000"/>
                </a:solidFill>
                <a:latin typeface="Calibri"/>
              </a:rPr>
              <a:t>The Cost of Failure</a:t>
            </a:r>
            <a:r>
              <a:rPr sz="2400">
                <a:solidFill>
                  <a:srgbClr val="000000"/>
                </a:solidFill>
                <a:latin typeface="Calibri"/>
              </a:rPr>
              <a:t>: Hallucination-related errors and structural data corruption in automated pipelines.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003366"/>
                </a:solidFill>
              </a:defRPr>
            </a:pPr>
            <a:r>
              <a:t>1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The Research Gap: Heuristics vs. Generative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45920"/>
            <a:ext cx="10972800" cy="0"/>
          </a:xfrm>
        </p:spPr>
        <p:txBody>
          <a:bodyPr/>
          <a:lstStyle/>
          <a:p/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/>
            </a:r>
            <a:r>
              <a:rPr b="1" sz="2400">
                <a:solidFill>
                  <a:srgbClr val="000000"/>
                </a:solidFill>
                <a:latin typeface="Calibri"/>
              </a:rPr>
              <a:t>Traditional OCR (Tesseract)</a:t>
            </a:r>
            <a:r>
              <a:rPr sz="2400">
                <a:solidFill>
                  <a:srgbClr val="000000"/>
                </a:solidFill>
                <a:latin typeface="Calibri"/>
              </a:rPr>
              <a:t>: Preserves literal characters but linearizes text horizontally, causing </a:t>
            </a:r>
            <a:r>
              <a:rPr b="1" sz="2400">
                <a:solidFill>
                  <a:srgbClr val="000000"/>
                </a:solidFill>
                <a:latin typeface="Calibri"/>
              </a:rPr>
              <a:t>Structural Fragmentation</a:t>
            </a:r>
            <a:r>
              <a:rPr sz="2400">
                <a:solidFill>
                  <a:srgbClr val="000000"/>
                </a:solidFill>
                <a:latin typeface="Calibri"/>
              </a:rPr>
              <a:t> in multi-column layouts.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/>
            </a:r>
            <a:r>
              <a:rPr b="1" sz="2400">
                <a:solidFill>
                  <a:srgbClr val="000000"/>
                </a:solidFill>
                <a:latin typeface="Calibri"/>
              </a:rPr>
              <a:t>Standalone VLMs (Gemini, LLaVA)</a:t>
            </a:r>
            <a:r>
              <a:rPr sz="2400">
                <a:solidFill>
                  <a:srgbClr val="000000"/>
                </a:solidFill>
                <a:latin typeface="Calibri"/>
              </a:rPr>
              <a:t>: Elegant multimodal perception but limited by </a:t>
            </a:r>
            <a:r>
              <a:rPr b="1" sz="2400">
                <a:solidFill>
                  <a:srgbClr val="000000"/>
                </a:solidFill>
                <a:latin typeface="Calibri"/>
              </a:rPr>
              <a:t>Resolution-Loss Hallucination</a:t>
            </a:r>
            <a:r>
              <a:rPr sz="2400">
                <a:solidFill>
                  <a:srgbClr val="000000"/>
                </a:solidFill>
                <a:latin typeface="Calibri"/>
              </a:rPr>
              <a:t> in dense tabular regions.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/>
            </a:r>
            <a:r>
              <a:rPr b="1" sz="2400">
                <a:solidFill>
                  <a:srgbClr val="000000"/>
                </a:solidFill>
                <a:latin typeface="Calibri"/>
              </a:rPr>
              <a:t>The Missing Link</a:t>
            </a:r>
            <a:r>
              <a:rPr sz="2400">
                <a:solidFill>
                  <a:srgbClr val="000000"/>
                </a:solidFill>
                <a:latin typeface="Calibri"/>
              </a:rPr>
              <a:t>: A lack of rigorous, systems-level benchmarking that evaluates the reliability trade-offs between deterministic parsing and semantic layout mapping.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003366"/>
                </a:solidFill>
              </a:defRPr>
            </a:pPr>
            <a:r>
              <a:t>2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Proposed Solution: Hybrid Dual-Stream Synchronization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45920"/>
            <a:ext cx="10972800" cy="0"/>
          </a:xfrm>
        </p:spPr>
        <p:txBody>
          <a:bodyPr/>
          <a:lstStyle/>
          <a:p/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/>
            </a:r>
            <a:r>
              <a:rPr b="1" sz="2400">
                <a:solidFill>
                  <a:srgbClr val="000000"/>
                </a:solidFill>
                <a:latin typeface="Calibri"/>
              </a:rPr>
              <a:t>Core Strategy</a:t>
            </a:r>
            <a:r>
              <a:rPr sz="2400">
                <a:solidFill>
                  <a:srgbClr val="000000"/>
                </a:solidFill>
                <a:latin typeface="Calibri"/>
              </a:rPr>
              <a:t>: Simultaneously process two independent data streams: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/>
            </a:r>
            <a:r>
              <a:rPr b="1" sz="2400">
                <a:solidFill>
                  <a:srgbClr val="000000"/>
                </a:solidFill>
                <a:latin typeface="Calibri"/>
              </a:rPr>
              <a:t>Stream 1 (Deterministic)</a:t>
            </a:r>
            <a:r>
              <a:rPr sz="2400">
                <a:solidFill>
                  <a:srgbClr val="000000"/>
                </a:solidFill>
                <a:latin typeface="Calibri"/>
              </a:rPr>
              <a:t>: PaddleOCR for high-precision character and bounding-box detection.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/>
            </a:r>
            <a:r>
              <a:rPr b="1" sz="2400">
                <a:solidFill>
                  <a:srgbClr val="000000"/>
                </a:solidFill>
                <a:latin typeface="Calibri"/>
              </a:rPr>
              <a:t>Stream 2 (Semantic)</a:t>
            </a:r>
            <a:r>
              <a:rPr sz="2400">
                <a:solidFill>
                  <a:srgbClr val="000000"/>
                </a:solidFill>
                <a:latin typeface="Calibri"/>
              </a:rPr>
              <a:t>: Vision-Language Model for visual layout summarization and structural context.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/>
            </a:r>
            <a:r>
              <a:rPr b="1" sz="2400">
                <a:solidFill>
                  <a:srgbClr val="000000"/>
                </a:solidFill>
                <a:latin typeface="Calibri"/>
              </a:rPr>
              <a:t>Grounding Reliability</a:t>
            </a:r>
            <a:r>
              <a:rPr sz="2400">
                <a:solidFill>
                  <a:srgbClr val="000000"/>
                </a:solidFill>
                <a:latin typeface="Calibri"/>
              </a:rPr>
              <a:t>: Grounding the generative visual summary in the deterministic OCR character sequence to suppress resolution-loss errors.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003366"/>
                </a:solidFill>
              </a:defRPr>
            </a:pPr>
            <a:r>
              <a:t>3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System Architecture: Modular Evaluation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45920"/>
            <a:ext cx="5943600" cy="0"/>
          </a:xfrm>
        </p:spPr>
        <p:txBody>
          <a:bodyPr/>
          <a:lstStyle/>
          <a:p/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/>
            </a:r>
            <a:r>
              <a:rPr b="1" sz="2400">
                <a:solidFill>
                  <a:srgbClr val="000000"/>
                </a:solidFill>
                <a:latin typeface="Calibri"/>
              </a:rPr>
              <a:t>Layout-Aware Retrieval</a:t>
            </a:r>
            <a:r>
              <a:rPr sz="2400">
                <a:solidFill>
                  <a:srgbClr val="000000"/>
                </a:solidFill>
                <a:latin typeface="Calibri"/>
              </a:rPr>
              <a:t>: Fusing character tokens and spatial embeddings in a shared vector space (FAISS).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/>
            </a:r>
            <a:r>
              <a:rPr b="1" sz="2400">
                <a:solidFill>
                  <a:srgbClr val="000000"/>
                </a:solidFill>
                <a:latin typeface="Calibri"/>
              </a:rPr>
              <a:t>Zero-Shot Protocol</a:t>
            </a:r>
            <a:r>
              <a:rPr sz="2400">
                <a:solidFill>
                  <a:srgbClr val="000000"/>
                </a:solidFill>
                <a:latin typeface="Calibri"/>
              </a:rPr>
              <a:t>: Evaluating out-of-the-box robustness without task-specific fine-tuning.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003366"/>
                </a:solidFill>
              </a:defRPr>
            </a:pPr>
            <a:r>
              <a:t>4 / 11</a:t>
            </a:r>
          </a:p>
        </p:txBody>
      </p:sp>
      <p:pic>
        <p:nvPicPr>
          <p:cNvPr id="5" name="Picture 4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828800"/>
            <a:ext cx="5029200" cy="12496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Mathematical Formalization of Reliability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45920"/>
            <a:ext cx="0" cy="0"/>
          </a:xfrm>
        </p:spPr>
        <p:txBody>
          <a:bodyPr/>
          <a:lstStyle/>
          <a:p/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/>
            </a:r>
            <a:r>
              <a:rPr b="1" sz="2400">
                <a:solidFill>
                  <a:srgbClr val="000000"/>
                </a:solidFill>
                <a:latin typeface="Calibri"/>
              </a:rPr>
              <a:t>Hybrid Synchronization (1.1)</a:t>
            </a:r>
            <a:r>
              <a:rPr sz="2400">
                <a:solidFill>
                  <a:srgbClr val="000000"/>
                </a:solidFill>
                <a:latin typeface="Calibri"/>
              </a:rPr>
              <a:t>: $C = S_{ocr} \parallel S_{vlm}$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/>
            </a:r>
            <a:r>
              <a:rPr b="1" sz="2400">
                <a:solidFill>
                  <a:srgbClr val="000000"/>
                </a:solidFill>
                <a:latin typeface="Calibri"/>
              </a:rPr>
              <a:t>Accuracy Metric: ANLS (3.1)</a:t>
            </a:r>
            <a:r>
              <a:rPr sz="2400">
                <a:solidFill>
                  <a:srgbClr val="000000"/>
                </a:solidFill>
                <a:latin typeface="Calibri"/>
              </a:rPr>
              <a:t>: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/>
            </a:r>
            <a:r>
              <a:rPr b="1" sz="2400">
                <a:solidFill>
                  <a:srgbClr val="000000"/>
                </a:solidFill>
                <a:latin typeface="Calibri"/>
              </a:rPr>
              <a:t>Fidelity Metric: Exact Match (3.2)</a:t>
            </a:r>
            <a:r>
              <a:rPr sz="2400">
                <a:solidFill>
                  <a:srgbClr val="000000"/>
                </a:solidFill>
                <a:latin typeface="Calibri"/>
              </a:rPr>
              <a:t>: Binary indicator of absolute precision.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/>
            </a:r>
            <a:r>
              <a:rPr b="1" sz="2400">
                <a:solidFill>
                  <a:srgbClr val="000000"/>
                </a:solidFill>
                <a:latin typeface="Calibri"/>
              </a:rPr>
              <a:t>Efficiency Metric: Throughput (3.5)</a:t>
            </a:r>
            <a:r>
              <a:rPr sz="2400">
                <a:solidFill>
                  <a:srgbClr val="000000"/>
                </a:solidFill>
                <a:latin typeface="Calibri"/>
              </a:rPr>
              <a:t>: $T_p = 1/L$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/>
            </a:r>
            <a:r>
              <a:rPr b="1" sz="2400">
                <a:solidFill>
                  <a:srgbClr val="000000"/>
                </a:solidFill>
                <a:latin typeface="Calibri"/>
              </a:rPr>
              <a:t>Grounding</a:t>
            </a:r>
            <a:r>
              <a:rPr sz="2400">
                <a:solidFill>
                  <a:srgbClr val="000000"/>
                </a:solidFill>
                <a:latin typeface="Calibri"/>
              </a:rPr>
              <a:t>: $s(a_i, g_i) = (1 - NL(a_i, g_i)) \text{ if } NL(a_i, g_i) &lt; 0.5 \text{ else } 0$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003366"/>
                </a:solidFill>
              </a:defRPr>
            </a:pPr>
            <a:r>
              <a:t>5 / 11</a:t>
            </a:r>
          </a:p>
        </p:txBody>
      </p:sp>
      <p:pic>
        <p:nvPicPr>
          <p:cNvPr id="5" name="Picture 4" descr="math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743200"/>
            <a:ext cx="548640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Benchmarking Results: The Accuracy-Efficiency Frontier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45920"/>
            <a:ext cx="5943600" cy="0"/>
          </a:xfrm>
        </p:spPr>
        <p:txBody>
          <a:bodyPr/>
          <a:lstStyle/>
          <a:p/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/>
            </a:r>
            <a:r>
              <a:rPr b="1" sz="2400">
                <a:solidFill>
                  <a:srgbClr val="000000"/>
                </a:solidFill>
                <a:latin typeface="Calibri"/>
              </a:rPr>
              <a:t>Performance Delta</a:t>
            </a:r>
            <a:r>
              <a:rPr sz="2400">
                <a:solidFill>
                  <a:srgbClr val="000000"/>
                </a:solidFill>
                <a:latin typeface="Calibri"/>
              </a:rPr>
              <a:t>: The Hybrid model achieves higher ANLS scores over standalone VLMs in dense tabular environments.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/>
            </a:r>
            <a:r>
              <a:rPr b="1" sz="2400">
                <a:solidFill>
                  <a:srgbClr val="000000"/>
                </a:solidFill>
                <a:latin typeface="Calibri"/>
              </a:rPr>
              <a:t>Observation</a:t>
            </a:r>
            <a:r>
              <a:rPr sz="2400">
                <a:solidFill>
                  <a:srgbClr val="000000"/>
                </a:solidFill>
                <a:latin typeface="Calibri"/>
              </a:rPr>
              <a:t>: Improving perception fidelity requires a significant computational trade-off in inference latency.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003366"/>
                </a:solidFill>
              </a:defRPr>
            </a:pPr>
            <a:r>
              <a:t>6 / 11</a:t>
            </a:r>
          </a:p>
        </p:txBody>
      </p:sp>
      <p:pic>
        <p:nvPicPr>
          <p:cNvPr id="5" name="Picture 4" descr="accuracy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828800"/>
            <a:ext cx="5029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Quantitative Evidence: Efficiency &amp; Memory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45920"/>
            <a:ext cx="5943600" cy="0"/>
          </a:xfrm>
        </p:spPr>
        <p:txBody>
          <a:bodyPr/>
          <a:lstStyle/>
          <a:p/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/>
            </a:r>
            <a:r>
              <a:rPr b="1" sz="2400">
                <a:solidFill>
                  <a:srgbClr val="000000"/>
                </a:solidFill>
                <a:latin typeface="Calibri"/>
              </a:rPr>
              <a:t>Throughput Inversion</a:t>
            </a:r>
            <a:r>
              <a:rPr sz="2400">
                <a:solidFill>
                  <a:srgbClr val="000000"/>
                </a:solidFill>
                <a:latin typeface="Calibri"/>
              </a:rPr>
              <a:t>: While VLMs provide higher throughput, their reliability in zero-shot extractions is significantly lower than grounded hybrid architectures.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/>
            </a:r>
            <a:r>
              <a:rPr b="1" sz="2400">
                <a:solidFill>
                  <a:srgbClr val="000000"/>
                </a:solidFill>
                <a:latin typeface="Calibri"/>
              </a:rPr>
              <a:t>Resource Footprint</a:t>
            </a:r>
            <a:r>
              <a:rPr sz="2400">
                <a:solidFill>
                  <a:srgbClr val="000000"/>
                </a:solidFill>
                <a:latin typeface="Calibri"/>
              </a:rPr>
              <a:t>: Hybrid models demand higher memory (RSS) due to dual-stream synchronization overhead.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003366"/>
                </a:solidFill>
              </a:defRPr>
            </a:pPr>
            <a:r>
              <a:t>7 / 11</a:t>
            </a:r>
          </a:p>
        </p:txBody>
      </p:sp>
      <p:pic>
        <p:nvPicPr>
          <p:cNvPr id="5" name="Picture 4" descr="efficien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828800"/>
            <a:ext cx="5029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Qualitative Analysis: Visualizing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45920"/>
            <a:ext cx="5943600" cy="0"/>
          </a:xfrm>
        </p:spPr>
        <p:txBody>
          <a:bodyPr/>
          <a:lstStyle/>
          <a:p/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/>
            </a:r>
            <a:r>
              <a:rPr b="1" sz="2400">
                <a:solidFill>
                  <a:srgbClr val="000000"/>
                </a:solidFill>
                <a:latin typeface="Calibri"/>
              </a:rPr>
              <a:t>VLM Failure</a:t>
            </a:r>
            <a:r>
              <a:rPr sz="2400">
                <a:solidFill>
                  <a:srgbClr val="000000"/>
                </a:solidFill>
                <a:latin typeface="Calibri"/>
              </a:rPr>
              <a:t>: Resolution-loss causes rounding errors and "probabilistic guessing" in financial figures.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/>
            </a:r>
            <a:r>
              <a:rPr b="1" sz="2400">
                <a:solidFill>
                  <a:srgbClr val="000000"/>
                </a:solidFill>
                <a:latin typeface="Calibri"/>
              </a:rPr>
              <a:t>Hybrid Remediation</a:t>
            </a:r>
            <a:r>
              <a:rPr sz="2400">
                <a:solidFill>
                  <a:srgbClr val="000000"/>
                </a:solidFill>
                <a:latin typeface="Calibri"/>
              </a:rPr>
              <a:t>: Deterministic OCR grounding recovers exact alphanumeric sequences ($1,240.50$ vs $1,200.00$).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003366"/>
                </a:solidFill>
              </a:defRPr>
            </a:pPr>
            <a:r>
              <a:t>8 / 11</a:t>
            </a:r>
          </a:p>
        </p:txBody>
      </p:sp>
      <p:pic>
        <p:nvPicPr>
          <p:cNvPr id="5" name="Picture 4" descr="hallucinatio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828800"/>
            <a:ext cx="5029200" cy="31211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Discussion: Structural Robustness &amp;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45920"/>
            <a:ext cx="10972800" cy="0"/>
          </a:xfrm>
        </p:spPr>
        <p:txBody>
          <a:bodyPr/>
          <a:lstStyle/>
          <a:p/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/>
            </a:r>
            <a:r>
              <a:rPr b="1" sz="2400">
                <a:solidFill>
                  <a:srgbClr val="000000"/>
                </a:solidFill>
                <a:latin typeface="Calibri"/>
              </a:rPr>
              <a:t>Adversarial Complexity</a:t>
            </a:r>
            <a:r>
              <a:rPr sz="2400">
                <a:solidFill>
                  <a:srgbClr val="000000"/>
                </a:solidFill>
                <a:latin typeface="Calibri"/>
              </a:rPr>
              <a:t>: Low absolute ANLS scores reflect the benchmark's focus on high-complexity, multi-column adversarial layouts rather than dataset scale.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/>
            </a:r>
            <a:r>
              <a:rPr b="1" sz="2400">
                <a:solidFill>
                  <a:srgbClr val="000000"/>
                </a:solidFill>
                <a:latin typeface="Calibri"/>
              </a:rPr>
              <a:t>Computational Overhead</a:t>
            </a:r>
            <a:r>
              <a:rPr sz="2400">
                <a:solidFill>
                  <a:srgbClr val="000000"/>
                </a:solidFill>
                <a:latin typeface="Calibri"/>
              </a:rPr>
              <a:t>: Dual-stream synchronization increases latency, necessitating future GPU-accelerated optimization.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/>
            </a:r>
            <a:r>
              <a:rPr b="1" sz="2400">
                <a:solidFill>
                  <a:srgbClr val="000000"/>
                </a:solidFill>
                <a:latin typeface="Calibri"/>
              </a:rPr>
              <a:t>Generalization</a:t>
            </a:r>
            <a:r>
              <a:rPr sz="2400">
                <a:solidFill>
                  <a:srgbClr val="000000"/>
                </a:solidFill>
                <a:latin typeface="Calibri"/>
              </a:rPr>
              <a:t>: Reliability performance remains dependent on embedding fidelity and OCR extraction quality.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003366"/>
                </a:solidFill>
              </a:defRPr>
            </a:pPr>
            <a:r>
              <a:t>9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Conclusion and Future Directions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45920"/>
            <a:ext cx="10972800" cy="0"/>
          </a:xfrm>
        </p:spPr>
        <p:txBody>
          <a:bodyPr/>
          <a:lstStyle/>
          <a:p/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/>
            </a:r>
            <a:r>
              <a:rPr b="1" sz="2400">
                <a:solidFill>
                  <a:srgbClr val="000000"/>
                </a:solidFill>
                <a:latin typeface="Calibri"/>
              </a:rPr>
              <a:t>Conclusion</a:t>
            </a:r>
            <a:r>
              <a:rPr sz="2400">
                <a:solidFill>
                  <a:srgbClr val="000000"/>
                </a:solidFill>
                <a:latin typeface="Calibri"/>
              </a:rPr>
              <a:t>: Fusing literal character grounding with semantic layout awareness is essential for mitigating hallucinations in mission-critical Document AI.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/>
            </a:r>
            <a:r>
              <a:rPr b="1" sz="2400">
                <a:solidFill>
                  <a:srgbClr val="000000"/>
                </a:solidFill>
                <a:latin typeface="Calibri"/>
              </a:rPr>
              <a:t>Future Work</a:t>
            </a:r>
            <a:r>
              <a:rPr sz="2400">
                <a:solidFill>
                  <a:srgbClr val="000000"/>
                </a:solidFill>
                <a:latin typeface="Calibri"/>
              </a:rPr>
              <a:t>: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>Scaling across dense tabular-specific corpora (TabFact).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>Investigating natively layout-aware architectures (LayoutLMv3).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000000"/>
                </a:solidFill>
                <a:latin typeface="Calibri"/>
              </a:rPr>
              <a:t>GPU-accelerated asynchronous tensor processing for reduced latency.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003366"/>
                </a:solidFill>
              </a:defRPr>
            </a:pPr>
            <a:r>
              <a:t>10 /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45920"/>
            <a:ext cx="10972800" cy="0"/>
          </a:xfrm>
        </p:spPr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003366"/>
                </a:solidFill>
              </a:defRPr>
            </a:pPr>
            <a: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