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>
              <a:defRPr b="1" sz="4400">
                <a:solidFill>
                  <a:srgbClr val="FFFFFF"/>
                </a:solidFill>
              </a:defRPr>
            </a:pPr>
            <a:r>
              <a:t>Systems-Level Reliability and Robustness Evaluation Framework for Document AI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**Master's Thesis Defense**</a:t>
            </a:r>
          </a:p>
          <a:p>
            <a:pPr algn="ctr">
              <a:defRPr sz="2400">
                <a:solidFill>
                  <a:srgbClr val="FFFFFF"/>
                </a:solidFill>
              </a:defRPr>
            </a:pPr>
            <a:r>
              <a:t>Bridging the Perception-Cognition Gap in Multimodal Reasoning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3200" b="1">
                <a:solidFill>
                  <a:srgbClr val="003366"/>
                </a:solidFill>
              </a:defRPr>
            </a:pPr>
            <a:r>
              <a:t>The Motivation: High-Risk Document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2960" y="1645920"/>
            <a:ext cx="10515600" cy="0"/>
          </a:xfrm>
        </p:spPr>
        <p:txBody>
          <a:bodyPr/>
          <a:lstStyle/>
          <a:p/>
          <a:p>
            <a:pPr algn="l">
              <a:spcAft>
                <a:spcPts val="1400"/>
              </a:spcAft>
            </a:pPr>
            <a:r>
              <a:rPr sz="2600">
                <a:solidFill>
                  <a:srgbClr val="000000"/>
                </a:solidFill>
                <a:latin typeface="Calibri"/>
              </a:rPr>
              <a:t/>
            </a:r>
            <a:r>
              <a:rPr b="1" sz="2600">
                <a:solidFill>
                  <a:srgbClr val="000000"/>
                </a:solidFill>
                <a:latin typeface="Calibri"/>
              </a:rPr>
              <a:t>The Challenge</a:t>
            </a:r>
            <a:r>
              <a:rPr sz="2600">
                <a:solidFill>
                  <a:srgbClr val="000000"/>
                </a:solidFill>
                <a:latin typeface="Calibri"/>
              </a:rPr>
              <a:t>: Mission-critical sectors (Finance, Healthcare) require exact precision from unstructured PDFs.</a:t>
            </a:r>
          </a:p>
          <a:p>
            <a:pPr algn="l">
              <a:spcAft>
                <a:spcPts val="1400"/>
              </a:spcAft>
            </a:pPr>
            <a:r>
              <a:rPr sz="2600">
                <a:solidFill>
                  <a:srgbClr val="000000"/>
                </a:solidFill>
                <a:latin typeface="Calibri"/>
              </a:rPr>
              <a:t/>
            </a:r>
            <a:r>
              <a:rPr b="1" sz="2600">
                <a:solidFill>
                  <a:srgbClr val="000000"/>
                </a:solidFill>
                <a:latin typeface="Calibri"/>
              </a:rPr>
              <a:t>The Bottleneck</a:t>
            </a:r>
            <a:r>
              <a:rPr sz="2600">
                <a:solidFill>
                  <a:srgbClr val="000000"/>
                </a:solidFill>
                <a:latin typeface="Calibri"/>
              </a:rPr>
              <a:t>: Standalone Large Language Models (LLMs) are linguistically robust but lack spatial awareness.</a:t>
            </a:r>
          </a:p>
          <a:p>
            <a:pPr algn="l">
              <a:spcAft>
                <a:spcPts val="1400"/>
              </a:spcAft>
            </a:pPr>
            <a:r>
              <a:rPr sz="2600">
                <a:solidFill>
                  <a:srgbClr val="000000"/>
                </a:solidFill>
                <a:latin typeface="Calibri"/>
              </a:rPr>
              <a:t/>
            </a:r>
            <a:r>
              <a:rPr b="1" sz="2600">
                <a:solidFill>
                  <a:srgbClr val="000000"/>
                </a:solidFill>
                <a:latin typeface="Calibri"/>
              </a:rPr>
              <a:t>The Perception-Cognition Gap</a:t>
            </a:r>
            <a:r>
              <a:rPr sz="2600">
                <a:solidFill>
                  <a:srgbClr val="000000"/>
                </a:solidFill>
                <a:latin typeface="Calibri"/>
              </a:rPr>
              <a:t>: A disconnect between a model's reasoning and its ability to "see" fine-grained textual evidence.</a:t>
            </a:r>
          </a:p>
          <a:p>
            <a:pPr algn="l">
              <a:spcAft>
                <a:spcPts val="1400"/>
              </a:spcAft>
            </a:pPr>
            <a:r>
              <a:rPr sz="2600">
                <a:solidFill>
                  <a:srgbClr val="000000"/>
                </a:solidFill>
                <a:latin typeface="Calibri"/>
              </a:rPr>
              <a:t/>
            </a:r>
            <a:r>
              <a:rPr b="1" sz="2600">
                <a:solidFill>
                  <a:srgbClr val="000000"/>
                </a:solidFill>
                <a:latin typeface="Calibri"/>
              </a:rPr>
              <a:t>The Cost of Failure</a:t>
            </a:r>
            <a:r>
              <a:rPr sz="2600">
                <a:solidFill>
                  <a:srgbClr val="000000"/>
                </a:solidFill>
                <a:latin typeface="Calibri"/>
              </a:rPr>
              <a:t>: Hallucination-related errors in automated pipelines.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812779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1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3200" b="1">
                <a:solidFill>
                  <a:srgbClr val="003366"/>
                </a:solidFill>
              </a:defRPr>
            </a:pPr>
            <a:r>
              <a:t>The Research Gap: Heuristics vs. Generative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2960" y="1645920"/>
            <a:ext cx="10515600" cy="0"/>
          </a:xfrm>
        </p:spPr>
        <p:txBody>
          <a:bodyPr/>
          <a:lstStyle/>
          <a:p/>
          <a:p>
            <a:pPr algn="l">
              <a:spcAft>
                <a:spcPts val="1400"/>
              </a:spcAft>
            </a:pPr>
            <a:r>
              <a:rPr sz="2600">
                <a:solidFill>
                  <a:srgbClr val="000000"/>
                </a:solidFill>
                <a:latin typeface="Calibri"/>
              </a:rPr>
              <a:t/>
            </a:r>
            <a:r>
              <a:rPr b="1" sz="2600">
                <a:solidFill>
                  <a:srgbClr val="000000"/>
                </a:solidFill>
                <a:latin typeface="Calibri"/>
              </a:rPr>
              <a:t>Traditional OCR (Tesseract)</a:t>
            </a:r>
            <a:r>
              <a:rPr sz="2600">
                <a:solidFill>
                  <a:srgbClr val="000000"/>
                </a:solidFill>
                <a:latin typeface="Calibri"/>
              </a:rPr>
              <a:t>: Preserves literal characters but linearizes text horizontally, causing </a:t>
            </a:r>
            <a:r>
              <a:rPr b="1" sz="2600">
                <a:solidFill>
                  <a:srgbClr val="000000"/>
                </a:solidFill>
                <a:latin typeface="Calibri"/>
              </a:rPr>
              <a:t>Structural Fragmentation</a:t>
            </a:r>
            <a:r>
              <a:rPr sz="2600">
                <a:solidFill>
                  <a:srgbClr val="000000"/>
                </a:solidFill>
                <a:latin typeface="Calibri"/>
              </a:rPr>
              <a:t>.</a:t>
            </a:r>
          </a:p>
          <a:p>
            <a:pPr algn="l">
              <a:spcAft>
                <a:spcPts val="1400"/>
              </a:spcAft>
            </a:pPr>
            <a:r>
              <a:rPr sz="2600">
                <a:solidFill>
                  <a:srgbClr val="000000"/>
                </a:solidFill>
                <a:latin typeface="Calibri"/>
              </a:rPr>
              <a:t/>
            </a:r>
            <a:r>
              <a:rPr b="1" sz="2600">
                <a:solidFill>
                  <a:srgbClr val="000000"/>
                </a:solidFill>
                <a:latin typeface="Calibri"/>
              </a:rPr>
              <a:t>Standalone VLMs (Gemini, LLaVA)</a:t>
            </a:r>
            <a:r>
              <a:rPr sz="2600">
                <a:solidFill>
                  <a:srgbClr val="000000"/>
                </a:solidFill>
                <a:latin typeface="Calibri"/>
              </a:rPr>
              <a:t>: Elegant multimodal perception but limited by </a:t>
            </a:r>
            <a:r>
              <a:rPr b="1" sz="2600">
                <a:solidFill>
                  <a:srgbClr val="000000"/>
                </a:solidFill>
                <a:latin typeface="Calibri"/>
              </a:rPr>
              <a:t>Resolution-Loss Hallucination</a:t>
            </a:r>
            <a:r>
              <a:rPr sz="2600">
                <a:solidFill>
                  <a:srgbClr val="000000"/>
                </a:solidFill>
                <a:latin typeface="Calibri"/>
              </a:rPr>
              <a:t>.</a:t>
            </a:r>
          </a:p>
          <a:p>
            <a:pPr algn="l">
              <a:spcAft>
                <a:spcPts val="1400"/>
              </a:spcAft>
            </a:pPr>
            <a:r>
              <a:rPr sz="2600">
                <a:solidFill>
                  <a:srgbClr val="000000"/>
                </a:solidFill>
                <a:latin typeface="Calibri"/>
              </a:rPr>
              <a:t/>
            </a:r>
            <a:r>
              <a:rPr b="1" sz="2600">
                <a:solidFill>
                  <a:srgbClr val="000000"/>
                </a:solidFill>
                <a:latin typeface="Calibri"/>
              </a:rPr>
              <a:t>The Missing Link</a:t>
            </a:r>
            <a:r>
              <a:rPr sz="2600">
                <a:solidFill>
                  <a:srgbClr val="000000"/>
                </a:solidFill>
                <a:latin typeface="Calibri"/>
              </a:rPr>
              <a:t>: Lack of benchmarking evaluating the trade-offs between deterministic parsing and semantic layout mapping.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1625559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2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3200" b="1">
                <a:solidFill>
                  <a:srgbClr val="003366"/>
                </a:solidFill>
              </a:defRPr>
            </a:pPr>
            <a:r>
              <a:t>Proposed Solution: Hybrid Dual-Stream Synchronization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2960" y="1645920"/>
            <a:ext cx="10515600" cy="0"/>
          </a:xfrm>
        </p:spPr>
        <p:txBody>
          <a:bodyPr/>
          <a:lstStyle/>
          <a:p/>
          <a:p>
            <a:pPr algn="l">
              <a:spcAft>
                <a:spcPts val="1400"/>
              </a:spcAft>
            </a:pPr>
            <a:r>
              <a:rPr sz="2600">
                <a:solidFill>
                  <a:srgbClr val="000000"/>
                </a:solidFill>
                <a:latin typeface="Calibri"/>
              </a:rPr>
              <a:t/>
            </a:r>
            <a:r>
              <a:rPr b="1" sz="2600">
                <a:solidFill>
                  <a:srgbClr val="000000"/>
                </a:solidFill>
                <a:latin typeface="Calibri"/>
              </a:rPr>
              <a:t>Core Strategy</a:t>
            </a:r>
            <a:r>
              <a:rPr sz="2600">
                <a:solidFill>
                  <a:srgbClr val="000000"/>
                </a:solidFill>
                <a:latin typeface="Calibri"/>
              </a:rPr>
              <a:t>: Simultaneously process two independent data streams:</a:t>
            </a:r>
          </a:p>
          <a:p>
            <a:pPr algn="l">
              <a:spcAft>
                <a:spcPts val="1400"/>
              </a:spcAft>
            </a:pPr>
            <a:r>
              <a:rPr sz="2600">
                <a:solidFill>
                  <a:srgbClr val="000000"/>
                </a:solidFill>
                <a:latin typeface="Calibri"/>
              </a:rPr>
              <a:t/>
            </a:r>
            <a:r>
              <a:rPr b="1" sz="2600">
                <a:solidFill>
                  <a:srgbClr val="000000"/>
                </a:solidFill>
                <a:latin typeface="Calibri"/>
              </a:rPr>
              <a:t>Stream 1 (Deterministic)</a:t>
            </a:r>
            <a:r>
              <a:rPr sz="2600">
                <a:solidFill>
                  <a:srgbClr val="000000"/>
                </a:solidFill>
                <a:latin typeface="Calibri"/>
              </a:rPr>
              <a:t>: PaddleOCR for high-precision character detection.</a:t>
            </a:r>
          </a:p>
          <a:p>
            <a:pPr algn="l">
              <a:spcAft>
                <a:spcPts val="1400"/>
              </a:spcAft>
            </a:pPr>
            <a:r>
              <a:rPr sz="2600">
                <a:solidFill>
                  <a:srgbClr val="000000"/>
                </a:solidFill>
                <a:latin typeface="Calibri"/>
              </a:rPr>
              <a:t/>
            </a:r>
            <a:r>
              <a:rPr b="1" sz="2600">
                <a:solidFill>
                  <a:srgbClr val="000000"/>
                </a:solidFill>
                <a:latin typeface="Calibri"/>
              </a:rPr>
              <a:t>Stream 2 (Semantic)</a:t>
            </a:r>
            <a:r>
              <a:rPr sz="2600">
                <a:solidFill>
                  <a:srgbClr val="000000"/>
                </a:solidFill>
                <a:latin typeface="Calibri"/>
              </a:rPr>
              <a:t>: Vision-Language Model for layout context.</a:t>
            </a:r>
          </a:p>
          <a:p>
            <a:pPr algn="l">
              <a:spcAft>
                <a:spcPts val="1400"/>
              </a:spcAft>
            </a:pPr>
            <a:r>
              <a:rPr sz="2600">
                <a:solidFill>
                  <a:srgbClr val="000000"/>
                </a:solidFill>
                <a:latin typeface="Calibri"/>
              </a:rPr>
              <a:t/>
            </a:r>
            <a:r>
              <a:rPr b="1" sz="2600">
                <a:solidFill>
                  <a:srgbClr val="000000"/>
                </a:solidFill>
                <a:latin typeface="Calibri"/>
              </a:rPr>
              <a:t>Grounding Reliability</a:t>
            </a:r>
            <a:r>
              <a:rPr sz="2600">
                <a:solidFill>
                  <a:srgbClr val="000000"/>
                </a:solidFill>
                <a:latin typeface="Calibri"/>
              </a:rPr>
              <a:t>: Grounding visual summaries in OCR character sequences to suppress resolution-loss errors.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2438339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3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3200" b="1">
                <a:solidFill>
                  <a:srgbClr val="003366"/>
                </a:solidFill>
              </a:defRPr>
            </a:pPr>
            <a:r>
              <a:t>System Architecture: Modular Evaluation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Octagon 3"/>
          <p:cNvSpPr/>
          <p:nvPr/>
        </p:nvSpPr>
        <p:spPr>
          <a:xfrm>
            <a:off x="0" y="6766560"/>
            <a:ext cx="3251118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4 / 15</a:t>
            </a:r>
          </a:p>
        </p:txBody>
      </p:sp>
      <p:pic>
        <p:nvPicPr>
          <p:cNvPr id="6" name="Picture 5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6687" y="1645920"/>
            <a:ext cx="941832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3200" b="1">
                <a:solidFill>
                  <a:srgbClr val="003366"/>
                </a:solidFill>
              </a:defRPr>
            </a:pPr>
            <a:r>
              <a:t>Layout-Aware Retrieval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2960" y="1645920"/>
            <a:ext cx="10515600" cy="0"/>
          </a:xfrm>
        </p:spPr>
        <p:txBody>
          <a:bodyPr/>
          <a:lstStyle/>
          <a:p/>
          <a:p>
            <a:pPr algn="l">
              <a:spcAft>
                <a:spcPts val="1400"/>
              </a:spcAft>
            </a:pPr>
            <a:r>
              <a:rPr sz="2600">
                <a:solidFill>
                  <a:srgbClr val="000000"/>
                </a:solidFill>
                <a:latin typeface="Calibri"/>
              </a:rPr>
              <a:t/>
            </a:r>
            <a:r>
              <a:rPr b="1" sz="2600">
                <a:solidFill>
                  <a:srgbClr val="000000"/>
                </a:solidFill>
                <a:latin typeface="Calibri"/>
              </a:rPr>
              <a:t>Dual-Stream Logic</a:t>
            </a:r>
            <a:r>
              <a:rPr sz="2600">
                <a:solidFill>
                  <a:srgbClr val="000000"/>
                </a:solidFill>
                <a:latin typeface="Calibri"/>
              </a:rPr>
              <a:t>: Fusing character tokens and spatial embeddings in a shared vector space (FAISS).</a:t>
            </a:r>
          </a:p>
          <a:p>
            <a:pPr algn="l">
              <a:spcAft>
                <a:spcPts val="1400"/>
              </a:spcAft>
            </a:pPr>
            <a:r>
              <a:rPr sz="2600">
                <a:solidFill>
                  <a:srgbClr val="000000"/>
                </a:solidFill>
                <a:latin typeface="Calibri"/>
              </a:rPr>
              <a:t/>
            </a:r>
            <a:r>
              <a:rPr b="1" sz="2600">
                <a:solidFill>
                  <a:srgbClr val="000000"/>
                </a:solidFill>
                <a:latin typeface="Calibri"/>
              </a:rPr>
              <a:t>Zero-Shot Protocol</a:t>
            </a:r>
            <a:r>
              <a:rPr sz="2600">
                <a:solidFill>
                  <a:srgbClr val="000000"/>
                </a:solidFill>
                <a:latin typeface="Calibri"/>
              </a:rPr>
              <a:t>: Evaluating robustness without task-specific fine-tuning.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4063898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5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3200" b="1">
                <a:solidFill>
                  <a:srgbClr val="003366"/>
                </a:solidFill>
              </a:defRPr>
            </a:pPr>
            <a:r>
              <a:t>Mathematical Formalization of Reliability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5943600"/>
            <a:ext cx="10972800" cy="0"/>
          </a:xfrm>
        </p:spPr>
        <p:txBody>
          <a:bodyPr/>
          <a:lstStyle/>
          <a:p/>
          <a:p>
            <a:pPr algn="ctr">
              <a:spcAft>
                <a:spcPts val="1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Hybrid Synchronization</a:t>
            </a:r>
            <a:r>
              <a:rPr sz="2200">
                <a:solidFill>
                  <a:srgbClr val="000000"/>
                </a:solidFill>
                <a:latin typeface="Calibri"/>
              </a:rPr>
              <a:t>: $C = S_{ocr} \parallel S_{vlm}$</a:t>
            </a:r>
          </a:p>
          <a:p>
            <a:pPr algn="ctr">
              <a:spcAft>
                <a:spcPts val="1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Accuracy Metric: ANLS</a:t>
            </a:r>
            <a:r>
              <a:rPr sz="2200">
                <a:solidFill>
                  <a:srgbClr val="000000"/>
                </a:solidFill>
                <a:latin typeface="Calibri"/>
              </a:rPr>
              <a:t>:</a:t>
            </a:r>
          </a:p>
          <a:p>
            <a:pPr algn="ctr">
              <a:spcAft>
                <a:spcPts val="1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Fidelity Metric: Exact Match</a:t>
            </a:r>
            <a:r>
              <a:rPr sz="2200">
                <a:solidFill>
                  <a:srgbClr val="000000"/>
                </a:solidFill>
                <a:latin typeface="Calibri"/>
              </a:rPr>
              <a:t>: Binary indicator of absolute precision.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4876678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6 / 15</a:t>
            </a:r>
          </a:p>
        </p:txBody>
      </p:sp>
      <p:pic>
        <p:nvPicPr>
          <p:cNvPr id="6" name="Picture 5" descr="math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3887" y="2286000"/>
            <a:ext cx="8503920" cy="263266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3200" b="1">
                <a:solidFill>
                  <a:srgbClr val="003366"/>
                </a:solidFill>
              </a:defRPr>
            </a:pPr>
            <a:r>
              <a:t>The Accuracy-Efficiency Frontier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Octagon 3"/>
          <p:cNvSpPr/>
          <p:nvPr/>
        </p:nvSpPr>
        <p:spPr>
          <a:xfrm>
            <a:off x="0" y="6766560"/>
            <a:ext cx="5689457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7 / 15</a:t>
            </a:r>
          </a:p>
        </p:txBody>
      </p:sp>
      <p:pic>
        <p:nvPicPr>
          <p:cNvPr id="6" name="Picture 5" descr="accuracy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6687" y="1645920"/>
            <a:ext cx="941832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3200" b="1">
                <a:solidFill>
                  <a:srgbClr val="003366"/>
                </a:solidFill>
              </a:defRPr>
            </a:pPr>
            <a:r>
              <a:t>Benchmarking Results: Performance Delta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2960" y="1645920"/>
            <a:ext cx="10515600" cy="0"/>
          </a:xfrm>
        </p:spPr>
        <p:txBody>
          <a:bodyPr/>
          <a:lstStyle/>
          <a:p/>
          <a:p>
            <a:pPr algn="l">
              <a:spcAft>
                <a:spcPts val="1400"/>
              </a:spcAft>
            </a:pPr>
            <a:r>
              <a:rPr sz="2600">
                <a:solidFill>
                  <a:srgbClr val="000000"/>
                </a:solidFill>
                <a:latin typeface="Calibri"/>
              </a:rPr>
              <a:t/>
            </a:r>
            <a:r>
              <a:rPr b="1" sz="2600">
                <a:solidFill>
                  <a:srgbClr val="000000"/>
                </a:solidFill>
                <a:latin typeface="Calibri"/>
              </a:rPr>
              <a:t>Observation</a:t>
            </a:r>
            <a:r>
              <a:rPr sz="2600">
                <a:solidFill>
                  <a:srgbClr val="000000"/>
                </a:solidFill>
                <a:latin typeface="Calibri"/>
              </a:rPr>
              <a:t>: The Hybrid model achieves significantly higher ANLS scores over standalone VLMs in dense tabular environments.</a:t>
            </a:r>
          </a:p>
          <a:p>
            <a:pPr algn="l">
              <a:spcAft>
                <a:spcPts val="1400"/>
              </a:spcAft>
            </a:pPr>
            <a:r>
              <a:rPr sz="2600">
                <a:solidFill>
                  <a:srgbClr val="000000"/>
                </a:solidFill>
                <a:latin typeface="Calibri"/>
              </a:rPr>
              <a:t/>
            </a:r>
            <a:r>
              <a:rPr b="1" sz="2600">
                <a:solidFill>
                  <a:srgbClr val="000000"/>
                </a:solidFill>
                <a:latin typeface="Calibri"/>
              </a:rPr>
              <a:t>Trade-off</a:t>
            </a:r>
            <a:r>
              <a:rPr sz="2600">
                <a:solidFill>
                  <a:srgbClr val="000000"/>
                </a:solidFill>
                <a:latin typeface="Calibri"/>
              </a:rPr>
              <a:t>: Improving perception fidelity requires a significant computational trade-off in inference latency.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6502237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8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3200" b="1">
                <a:solidFill>
                  <a:srgbClr val="003366"/>
                </a:solidFill>
              </a:defRPr>
            </a:pPr>
            <a:r>
              <a:t>Quantitative Evidence: Efficiency &amp; Memory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Octagon 3"/>
          <p:cNvSpPr/>
          <p:nvPr/>
        </p:nvSpPr>
        <p:spPr>
          <a:xfrm>
            <a:off x="0" y="6766560"/>
            <a:ext cx="7315017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9 / 15</a:t>
            </a:r>
          </a:p>
        </p:txBody>
      </p:sp>
      <p:pic>
        <p:nvPicPr>
          <p:cNvPr id="6" name="Picture 5" descr="efficienc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6687" y="1645920"/>
            <a:ext cx="941832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3200" b="1">
                <a:solidFill>
                  <a:srgbClr val="003366"/>
                </a:solidFill>
              </a:defRPr>
            </a:pPr>
            <a:r>
              <a:t>Resource Footprint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2960" y="1645920"/>
            <a:ext cx="10515600" cy="0"/>
          </a:xfrm>
        </p:spPr>
        <p:txBody>
          <a:bodyPr/>
          <a:lstStyle/>
          <a:p/>
          <a:p>
            <a:pPr algn="l">
              <a:spcAft>
                <a:spcPts val="1400"/>
              </a:spcAft>
            </a:pPr>
            <a:r>
              <a:rPr sz="2600">
                <a:solidFill>
                  <a:srgbClr val="000000"/>
                </a:solidFill>
                <a:latin typeface="Calibri"/>
              </a:rPr>
              <a:t/>
            </a:r>
            <a:r>
              <a:rPr b="1" sz="2600">
                <a:solidFill>
                  <a:srgbClr val="000000"/>
                </a:solidFill>
                <a:latin typeface="Calibri"/>
              </a:rPr>
              <a:t>Throughput Inversion</a:t>
            </a:r>
            <a:r>
              <a:rPr sz="2600">
                <a:solidFill>
                  <a:srgbClr val="000000"/>
                </a:solidFill>
                <a:latin typeface="Calibri"/>
              </a:rPr>
              <a:t>: While VLMs provide higher throughput, their reliability in zero-shot extractions is significantly lower.</a:t>
            </a:r>
          </a:p>
          <a:p>
            <a:pPr algn="l">
              <a:spcAft>
                <a:spcPts val="1400"/>
              </a:spcAft>
            </a:pPr>
            <a:r>
              <a:rPr sz="2600">
                <a:solidFill>
                  <a:srgbClr val="000000"/>
                </a:solidFill>
                <a:latin typeface="Calibri"/>
              </a:rPr>
              <a:t/>
            </a:r>
            <a:r>
              <a:rPr b="1" sz="2600">
                <a:solidFill>
                  <a:srgbClr val="000000"/>
                </a:solidFill>
                <a:latin typeface="Calibri"/>
              </a:rPr>
              <a:t>Memory Consumption</a:t>
            </a:r>
            <a:r>
              <a:rPr sz="2600">
                <a:solidFill>
                  <a:srgbClr val="000000"/>
                </a:solidFill>
                <a:latin typeface="Calibri"/>
              </a:rPr>
              <a:t>: Hybrid models demand higher memory (RSS) due to dual-stream synchronization overhead.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8127796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10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3200" b="1">
                <a:solidFill>
                  <a:srgbClr val="003366"/>
                </a:solidFill>
              </a:defRPr>
            </a:pPr>
            <a:r>
              <a:t>Visualizing Failure Modes: Hallucination Case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Octagon 3"/>
          <p:cNvSpPr/>
          <p:nvPr/>
        </p:nvSpPr>
        <p:spPr>
          <a:xfrm>
            <a:off x="0" y="6766560"/>
            <a:ext cx="8940576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11 / 15</a:t>
            </a:r>
          </a:p>
        </p:txBody>
      </p:sp>
      <p:pic>
        <p:nvPicPr>
          <p:cNvPr id="6" name="Picture 5" descr="hallucination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6687" y="1645920"/>
            <a:ext cx="941832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3200" b="1">
                <a:solidFill>
                  <a:srgbClr val="003366"/>
                </a:solidFill>
              </a:defRPr>
            </a:pPr>
            <a:r>
              <a:t>Qualitative Analysis: Standalone VLM vs Hybrid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2960" y="1645920"/>
            <a:ext cx="10515600" cy="0"/>
          </a:xfrm>
        </p:spPr>
        <p:txBody>
          <a:bodyPr/>
          <a:lstStyle/>
          <a:p/>
          <a:p>
            <a:pPr algn="l">
              <a:spcAft>
                <a:spcPts val="1400"/>
              </a:spcAft>
            </a:pPr>
            <a:r>
              <a:rPr sz="2600">
                <a:solidFill>
                  <a:srgbClr val="000000"/>
                </a:solidFill>
                <a:latin typeface="Calibri"/>
              </a:rPr>
              <a:t/>
            </a:r>
            <a:r>
              <a:rPr b="1" sz="2600">
                <a:solidFill>
                  <a:srgbClr val="000000"/>
                </a:solidFill>
                <a:latin typeface="Calibri"/>
              </a:rPr>
              <a:t>VLM Failure</a:t>
            </a:r>
            <a:r>
              <a:rPr sz="2600">
                <a:solidFill>
                  <a:srgbClr val="000000"/>
                </a:solidFill>
                <a:latin typeface="Calibri"/>
              </a:rPr>
              <a:t>: Resolution-loss causes rounding errors and "probabilistic guessing" in financial figures.</a:t>
            </a:r>
          </a:p>
          <a:p>
            <a:pPr algn="l">
              <a:spcAft>
                <a:spcPts val="1400"/>
              </a:spcAft>
            </a:pPr>
            <a:r>
              <a:rPr sz="2600">
                <a:solidFill>
                  <a:srgbClr val="000000"/>
                </a:solidFill>
                <a:latin typeface="Calibri"/>
              </a:rPr>
              <a:t/>
            </a:r>
            <a:r>
              <a:rPr b="1" sz="2600">
                <a:solidFill>
                  <a:srgbClr val="000000"/>
                </a:solidFill>
                <a:latin typeface="Calibri"/>
              </a:rPr>
              <a:t>Hybrid Remediation</a:t>
            </a:r>
            <a:r>
              <a:rPr sz="2600">
                <a:solidFill>
                  <a:srgbClr val="000000"/>
                </a:solidFill>
                <a:latin typeface="Calibri"/>
              </a:rPr>
              <a:t>: Deterministic OCR grounding recovers exact alphanumeric sequences ($1,240.50$ vs $1,200.00$).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9753356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12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3200" b="1">
                <a:solidFill>
                  <a:srgbClr val="003366"/>
                </a:solidFill>
              </a:defRPr>
            </a:pPr>
            <a:r>
              <a:t>Discussion: Structural Robustness &amp; 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2960" y="1645920"/>
            <a:ext cx="10515600" cy="0"/>
          </a:xfrm>
        </p:spPr>
        <p:txBody>
          <a:bodyPr/>
          <a:lstStyle/>
          <a:p/>
          <a:p>
            <a:pPr algn="l">
              <a:spcAft>
                <a:spcPts val="1400"/>
              </a:spcAft>
            </a:pPr>
            <a:r>
              <a:rPr sz="2600">
                <a:solidFill>
                  <a:srgbClr val="000000"/>
                </a:solidFill>
                <a:latin typeface="Calibri"/>
              </a:rPr>
              <a:t/>
            </a:r>
            <a:r>
              <a:rPr b="1" sz="2600">
                <a:solidFill>
                  <a:srgbClr val="000000"/>
                </a:solidFill>
                <a:latin typeface="Calibri"/>
              </a:rPr>
              <a:t>Adversarial Complexity</a:t>
            </a:r>
            <a:r>
              <a:rPr sz="2600">
                <a:solidFill>
                  <a:srgbClr val="000000"/>
                </a:solidFill>
                <a:latin typeface="Calibri"/>
              </a:rPr>
              <a:t>: Low ANLS scores reflect the benchmark's focus on high-complexity, multi-column adversarial layouts.</a:t>
            </a:r>
          </a:p>
          <a:p>
            <a:pPr algn="l">
              <a:spcAft>
                <a:spcPts val="1400"/>
              </a:spcAft>
            </a:pPr>
            <a:r>
              <a:rPr sz="2600">
                <a:solidFill>
                  <a:srgbClr val="000000"/>
                </a:solidFill>
                <a:latin typeface="Calibri"/>
              </a:rPr>
              <a:t/>
            </a:r>
            <a:r>
              <a:rPr b="1" sz="2600">
                <a:solidFill>
                  <a:srgbClr val="000000"/>
                </a:solidFill>
                <a:latin typeface="Calibri"/>
              </a:rPr>
              <a:t>Computational Overhead</a:t>
            </a:r>
            <a:r>
              <a:rPr sz="2600">
                <a:solidFill>
                  <a:srgbClr val="000000"/>
                </a:solidFill>
                <a:latin typeface="Calibri"/>
              </a:rPr>
              <a:t>: Dual-stream synchronization increases latency, necessitating future GPU-accelerated optimization.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10566135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13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3200" b="1">
                <a:solidFill>
                  <a:srgbClr val="003366"/>
                </a:solidFill>
              </a:defRPr>
            </a:pPr>
            <a:r>
              <a:t>Conclusion and Future Directions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2960" y="1645920"/>
            <a:ext cx="10515600" cy="0"/>
          </a:xfrm>
        </p:spPr>
        <p:txBody>
          <a:bodyPr/>
          <a:lstStyle/>
          <a:p/>
          <a:p>
            <a:pPr algn="l">
              <a:spcAft>
                <a:spcPts val="1400"/>
              </a:spcAft>
            </a:pPr>
            <a:r>
              <a:rPr sz="2600">
                <a:solidFill>
                  <a:srgbClr val="000000"/>
                </a:solidFill>
                <a:latin typeface="Calibri"/>
              </a:rPr>
              <a:t/>
            </a:r>
            <a:r>
              <a:rPr b="1" sz="2600">
                <a:solidFill>
                  <a:srgbClr val="000000"/>
                </a:solidFill>
                <a:latin typeface="Calibri"/>
              </a:rPr>
              <a:t>Conclusion</a:t>
            </a:r>
            <a:r>
              <a:rPr sz="2600">
                <a:solidFill>
                  <a:srgbClr val="000000"/>
                </a:solidFill>
                <a:latin typeface="Calibri"/>
              </a:rPr>
              <a:t>: Fusing character grounding with semantic layout awareness is essential for mitigating hallucinations in mission-critical AI.</a:t>
            </a:r>
          </a:p>
          <a:p>
            <a:pPr algn="l">
              <a:spcAft>
                <a:spcPts val="1400"/>
              </a:spcAft>
            </a:pPr>
            <a:r>
              <a:rPr sz="2600">
                <a:solidFill>
                  <a:srgbClr val="000000"/>
                </a:solidFill>
                <a:latin typeface="Calibri"/>
              </a:rPr>
              <a:t/>
            </a:r>
            <a:r>
              <a:rPr b="1" sz="2600">
                <a:solidFill>
                  <a:srgbClr val="000000"/>
                </a:solidFill>
                <a:latin typeface="Calibri"/>
              </a:rPr>
              <a:t>Future Work</a:t>
            </a:r>
            <a:r>
              <a:rPr sz="2600">
                <a:solidFill>
                  <a:srgbClr val="000000"/>
                </a:solidFill>
                <a:latin typeface="Calibri"/>
              </a:rPr>
              <a:t>: Scaling across dense tabular corpora and Investigating natively layout-aware architectures (LayoutLMv3).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11378915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14 /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3200" b="1">
                <a:solidFill>
                  <a:srgbClr val="003366"/>
                </a:solidFill>
              </a:defRPr>
            </a:pPr>
            <a:r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2960" y="1645920"/>
            <a:ext cx="10515600" cy="0"/>
          </a:xfrm>
        </p:spPr>
        <p:txBody>
          <a:bodyPr/>
          <a:lstStyle/>
          <a:p/>
        </p:txBody>
      </p:sp>
      <p:sp>
        <p:nvSpPr>
          <p:cNvPr id="4" name="Octagon 3"/>
          <p:cNvSpPr/>
          <p:nvPr/>
        </p:nvSpPr>
        <p:spPr>
          <a:xfrm>
            <a:off x="0" y="6766560"/>
            <a:ext cx="12191695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