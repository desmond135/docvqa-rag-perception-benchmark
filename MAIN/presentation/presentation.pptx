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63040"/>
            <a:ext cx="11277295" cy="2011680"/>
          </a:xfrm>
        </p:spPr>
        <p:txBody>
          <a:bodyPr/>
          <a:lstStyle/>
          <a:p>
            <a:pPr algn="ctr">
              <a:defRPr b="1" sz="3600">
                <a:solidFill>
                  <a:srgbClr val="003366"/>
                </a:solidFill>
                <a:latin typeface="Calibri"/>
              </a:defRPr>
            </a:pPr>
            <a:r>
              <a:t>Systems-Level Reliability and Robustness Evaluation Framework for Document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74720"/>
            <a:ext cx="11277295" cy="2926080"/>
          </a:xfrm>
        </p:spPr>
        <p:txBody>
          <a:bodyPr/>
          <a:lstStyle/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Master's Thesis Defense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Tifang Desmond Ngoe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Czestochowa University of Technology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Supervisor: Prof. Piotr Duda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The Document AI Challenge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812779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Enterprise Bottleneck</a:t>
            </a:r>
            <a:r>
              <a:rPr sz="2200">
                <a:solidFill>
                  <a:srgbClr val="000000"/>
                </a:solidFill>
                <a:latin typeface="Calibri"/>
              </a:rPr>
              <a:t>: Modern pipelines rely heavily on extracting unstructured data from complex PDFs.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Visual Complexity</a:t>
            </a:r>
            <a:r>
              <a:rPr sz="2200">
                <a:solidFill>
                  <a:srgbClr val="000000"/>
                </a:solidFill>
                <a:latin typeface="Calibri"/>
              </a:rPr>
              <a:t>: Dense tabular grids and multi-column geometries defy simple text reading orders.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The Perception Gap</a:t>
            </a:r>
            <a:r>
              <a:rPr sz="2200">
                <a:solidFill>
                  <a:srgbClr val="000000"/>
                </a:solidFill>
                <a:latin typeface="Calibri"/>
              </a:rPr>
              <a:t>: Semantic LLMs without spatial awareness hallucinate structural data.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Critical Risk</a:t>
            </a:r>
            <a:r>
              <a:rPr sz="2200">
                <a:solidFill>
                  <a:srgbClr val="000000"/>
                </a:solidFill>
                <a:latin typeface="Calibri"/>
              </a:rPr>
              <a:t>: A minor layout misread (e.g., distorting $1,240.50) triggers catastrophic failures in downstream financial audits.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Data as the Core Foundation of AI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1625559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The Ultimate Catalyst</a:t>
            </a:r>
            <a:r>
              <a:rPr sz="1900">
                <a:solidFill>
                  <a:srgbClr val="000000"/>
                </a:solidFill>
                <a:latin typeface="Calibri"/>
              </a:rPr>
              <a:t>: All downstream cognitive reasoning is fundamentally capped by the accuracy of the perception layer.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Bridging the Disconnect</a:t>
            </a:r>
            <a:r>
              <a:rPr sz="1900">
                <a:solidFill>
                  <a:srgbClr val="000000"/>
                </a:solidFill>
                <a:latin typeface="Calibri"/>
              </a:rPr>
              <a:t>: We must bridge the gap where LLMs show advanced linguistic reasoning but fail at structural, spatial perception.</a:t>
            </a:r>
          </a:p>
        </p:txBody>
      </p:sp>
      <p:pic>
        <p:nvPicPr>
          <p:cNvPr id="7" name="Picture 6" descr="data_foundation_intellig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127" y="1280160"/>
            <a:ext cx="5669280" cy="37758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50127" y="5147429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1.0: Data as the Core Foundation of AI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Research Objective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2438339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Formulate a Benchmark</a:t>
            </a:r>
            <a:r>
              <a:rPr sz="2200">
                <a:solidFill>
                  <a:srgbClr val="000000"/>
                </a:solidFill>
                <a:latin typeface="Calibri"/>
              </a:rPr>
              <a:t>: Create a rigorous reliability evaluation framework for DocVQA architectures under zero-shot conditions.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Investigate Perception</a:t>
            </a:r>
            <a:r>
              <a:rPr sz="2200">
                <a:solidFill>
                  <a:srgbClr val="000000"/>
                </a:solidFill>
                <a:latin typeface="Calibri"/>
              </a:rPr>
              <a:t>: Isolate and evaluate the exact impact of spatial grounding on LLM hallucination rates.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Establish a Frontier</a:t>
            </a:r>
            <a:r>
              <a:rPr sz="2200">
                <a:solidFill>
                  <a:srgbClr val="000000"/>
                </a:solidFill>
                <a:latin typeface="Calibri"/>
              </a:rPr>
              <a:t>: Map the accuracy-efficiency trade-offs across Traditional OCR, VLMs, and Hybrid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Traditional Baseline: OCR (Tesseract)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3251118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Heuristic Algorithms</a:t>
            </a:r>
            <a:r>
              <a:rPr sz="1900">
                <a:solidFill>
                  <a:srgbClr val="000000"/>
                </a:solidFill>
                <a:latin typeface="Calibri"/>
              </a:rPr>
              <a:t>: Relies on rigid rules to group characters.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Linearization Failure</a:t>
            </a:r>
            <a:r>
              <a:rPr sz="1900">
                <a:solidFill>
                  <a:srgbClr val="000000"/>
                </a:solidFill>
                <a:latin typeface="Calibri"/>
              </a:rPr>
              <a:t>: Converts multi-column layouts into a single, corrupted horizontal text stream.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Fidelity Loss</a:t>
            </a:r>
            <a:r>
              <a:rPr sz="1900">
                <a:solidFill>
                  <a:srgbClr val="000000"/>
                </a:solidFill>
                <a:latin typeface="Calibri"/>
              </a:rPr>
              <a:t>: Completely destroys spatial relationships inside complex tables.</a:t>
            </a:r>
          </a:p>
        </p:txBody>
      </p:sp>
      <p:pic>
        <p:nvPicPr>
          <p:cNvPr id="7" name="Picture 6" descr="ocr_pre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127" y="1280160"/>
            <a:ext cx="5669280" cy="25753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50127" y="3946938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4.3: OCR Preprocessing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Modern Baseline: Vision-Language Models (VLMs)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4063898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Multimodal Promising</a:t>
            </a:r>
            <a:r>
              <a:rPr sz="1900">
                <a:solidFill>
                  <a:srgbClr val="000000"/>
                </a:solidFill>
                <a:latin typeface="Calibri"/>
              </a:rPr>
              <a:t>: Treats entire document images natively as input patches.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Resolution Constraints</a:t>
            </a:r>
            <a:r>
              <a:rPr sz="1900">
                <a:solidFill>
                  <a:srgbClr val="000000"/>
                </a:solidFill>
                <a:latin typeface="Calibri"/>
              </a:rPr>
              <a:t>: Fixed patch limits (e.g., 336x336 pixels) heavily compress dense tabular data.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The Perception Failure</a:t>
            </a:r>
            <a:r>
              <a:rPr sz="1900">
                <a:solidFill>
                  <a:srgbClr val="000000"/>
                </a:solidFill>
                <a:latin typeface="Calibri"/>
              </a:rPr>
              <a:t>: Zero-shot VLMs probabilistically "guess" digits when pixel alignment is lost, leading to severe hallucination.</a:t>
            </a:r>
          </a:p>
        </p:txBody>
      </p:sp>
      <p:pic>
        <p:nvPicPr>
          <p:cNvPr id="7" name="Picture 6" descr="vlm_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20" y="1280160"/>
            <a:ext cx="4529093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0220" y="5669280"/>
            <a:ext cx="452909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2.4: VLM Projection Layer and Resolution Constraints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Proposed Solution: Hybrid OCR-VLM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4876678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Dual-Stream Synchronization</a:t>
            </a:r>
            <a:r>
              <a:rPr sz="1900">
                <a:solidFill>
                  <a:srgbClr val="000000"/>
                </a:solidFill>
                <a:latin typeface="Calibri"/>
              </a:rPr>
              <a:t>: Merges the literal character precision of PaddleOCR with the semantic layout awareness of VLMs.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Spatial Anchoring</a:t>
            </a:r>
            <a:r>
              <a:rPr sz="1900">
                <a:solidFill>
                  <a:srgbClr val="000000"/>
                </a:solidFill>
                <a:latin typeface="Calibri"/>
              </a:rPr>
              <a:t>: Indexes exact 2D bounding boxes $(x_1, y_1, x_2, y_2)$ for absolute alphanumeric fidelity.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Perception Safety Net</a:t>
            </a:r>
            <a:r>
              <a:rPr sz="1900">
                <a:solidFill>
                  <a:srgbClr val="000000"/>
                </a:solidFill>
                <a:latin typeface="Calibri"/>
              </a:rPr>
              <a:t>: Grounds VLM reasoning inside verified, deterministic OCR coordinates to eliminate hallucination.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18" y="1280160"/>
            <a:ext cx="3406697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81418" y="5669280"/>
            <a:ext cx="340669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4.1: Advanced Global System Orchestration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RAG Connection Layer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5689457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7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Vector Space Mapping</a:t>
            </a:r>
            <a:r>
              <a:rPr sz="1900">
                <a:solidFill>
                  <a:srgbClr val="000000"/>
                </a:solidFill>
                <a:latin typeface="Calibri"/>
              </a:rPr>
              <a:t>: Layout-aware documents are chunked and projected into a FAISS database using `all-MiniLM-L6-v2`.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Hybrid Retrieval</a:t>
            </a:r>
            <a:r>
              <a:rPr sz="1900">
                <a:solidFill>
                  <a:srgbClr val="000000"/>
                </a:solidFill>
                <a:latin typeface="Calibri"/>
              </a:rPr>
              <a:t>: Fetches high-relevance chunks mathematically grounded with precise spatial metadata.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Cognitive Reasoning</a:t>
            </a:r>
            <a:r>
              <a:rPr sz="1900">
                <a:solidFill>
                  <a:srgbClr val="000000"/>
                </a:solidFill>
                <a:latin typeface="Calibri"/>
              </a:rPr>
              <a:t>: Feeds deterministic context directly into the Mistral 7B Instruct reasoning engine.</a:t>
            </a:r>
          </a:p>
        </p:txBody>
      </p:sp>
      <p:pic>
        <p:nvPicPr>
          <p:cNvPr id="7" name="Picture 6" descr="rag_workflow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665" y="1280160"/>
            <a:ext cx="4316204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6665" y="5669280"/>
            <a:ext cx="43162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3.1: Semantic Embedding and Vector Storage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Evaluation Benchmark &amp; Metrics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6502237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8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Test Corpus</a:t>
            </a:r>
            <a:r>
              <a:rPr sz="1900">
                <a:solidFill>
                  <a:srgbClr val="000000"/>
                </a:solidFill>
                <a:latin typeface="Calibri"/>
              </a:rPr>
              <a:t>: 50 high-complexity zero-shot PDFs from the DocVQA validation set (dense tables, scans, multi-columns).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ANLS (Soft Similarity)</a:t>
            </a:r>
            <a:r>
              <a:rPr sz="1900">
                <a:solidFill>
                  <a:srgbClr val="000000"/>
                </a:solidFill>
                <a:latin typeface="Calibri"/>
              </a:rPr>
              <a:t>: Penalizes hallucinations while allowing minor formatting variances.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Exact Match (EM)</a:t>
            </a:r>
            <a:r>
              <a:rPr sz="1900">
                <a:solidFill>
                  <a:srgbClr val="000000"/>
                </a:solidFill>
                <a:latin typeface="Calibri"/>
              </a:rPr>
              <a:t>: Strictest binary accuracy.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F1-Score</a:t>
            </a:r>
            <a:r>
              <a:rPr sz="1900">
                <a:solidFill>
                  <a:srgbClr val="000000"/>
                </a:solidFill>
                <a:latin typeface="Calibri"/>
              </a:rPr>
              <a:t>: Token-level lexical overlap measuring precision and recall.</a:t>
            </a:r>
          </a:p>
        </p:txBody>
      </p:sp>
      <p:pic>
        <p:nvPicPr>
          <p:cNvPr id="7" name="Picture 6" descr="math_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127" y="1280160"/>
            <a:ext cx="5669280" cy="1165307"/>
          </a:xfrm>
          <a:prstGeom prst="rect">
            <a:avLst/>
          </a:prstGeom>
        </p:spPr>
      </p:pic>
      <p:pic>
        <p:nvPicPr>
          <p:cNvPr id="8" name="Picture 7" descr="math_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127" y="3657600"/>
            <a:ext cx="5669280" cy="1165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Experimental Results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7315017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9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Empirical Breakthrough</a:t>
            </a:r>
            <a:r>
              <a:rPr sz="1900">
                <a:solidFill>
                  <a:srgbClr val="000000"/>
                </a:solidFill>
                <a:latin typeface="Calibri"/>
              </a:rPr>
              <a:t>: The Hybrid model strictly outperforms standalone VLMs and Traditional OCR.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Visual Evidence</a:t>
            </a:r>
            <a:r>
              <a:rPr sz="1900">
                <a:solidFill>
                  <a:srgbClr val="000000"/>
                </a:solidFill>
                <a:latin typeface="Calibri"/>
              </a:rPr>
              <a:t>: Synchronization successfully prevents layout-blindness.</a:t>
            </a:r>
          </a:p>
        </p:txBody>
      </p:sp>
      <p:pic>
        <p:nvPicPr>
          <p:cNvPr id="7" name="Picture 6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127" y="1280160"/>
            <a:ext cx="5669280" cy="3401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50127" y="4773168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7.2: Accuracy Benchmark Matrix (ANLS vs F1)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Key Performance Findings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8127796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10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i="1">
                <a:solidFill>
                  <a:srgbClr val="1F77B4"/>
                </a:solidFill>
                <a:latin typeface="Calibri"/>
              </a:rPr>
              <a:t>Massive Improvement: The Hybrid model achieves a 41% improvement in ANLS accuracy over standalone VLMs (0.17 $\rightarrow$ 0.24).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i="1">
                <a:solidFill>
                  <a:srgbClr val="1F77B4"/>
                </a:solidFill>
                <a:latin typeface="Calibri"/>
              </a:rPr>
              <a:t>Trade-off: Superior accuracy requires significantly higher latency (14.2s) and RAM footprint (4.6GB) due to dual-stream processing.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  <a:latin typeface="Calibri"/>
              </a:defRPr>
            </a:pPr>
            <a:r>
              <a:t>Table 7.1: Exhaustive Performance Benchmarking Matrix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2024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081"/>
                <a:gridCol w="1341081"/>
                <a:gridCol w="1341081"/>
                <a:gridCol w="1341081"/>
                <a:gridCol w="1341081"/>
                <a:gridCol w="1341081"/>
                <a:gridCol w="1341081"/>
                <a:gridCol w="1341088"/>
              </a:tblGrid>
              <a:tr h="8046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ANLS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Exact Match (EM)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RAM Footprint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Search Efficiency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Hybrid (Ours)</a:t>
                      </a:r>
                    </a:p>
                  </a:txBody>
                  <a:tcPr>
                    <a:solidFill>
                      <a:srgbClr val="DC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14.20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0.07 S/s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4600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Sub-ms (&lt;1ms)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Standalone VLM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4.20 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0.24 S/s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4100 MB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Tesseract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11.00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0.09 S/s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350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Sub-ms (&lt;1ms)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PaddleOCR RAG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52.30 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0.02 S/s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850 MB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Sub-ms (&lt;1ms)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Ablation Study: Why it Works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8940576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11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i="1">
                <a:solidFill>
                  <a:srgbClr val="1F77B4"/>
                </a:solidFill>
                <a:latin typeface="Calibri"/>
              </a:rPr>
              <a:t>Isolating Variables: We systematically removed the layout parsing and character grounding layers.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i="1">
                <a:solidFill>
                  <a:srgbClr val="1F77B4"/>
                </a:solidFill>
                <a:latin typeface="Calibri"/>
              </a:rPr>
              <a:t>The Core Finding: Removing deterministic character grounding collapses Exact Match accuracy back to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  <a:latin typeface="Calibri"/>
              </a:defRPr>
            </a:pPr>
            <a:r>
              <a:t>Table 7.2: Perception Component Ablation Study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2024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Layout Detection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Text Grounding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VLM Context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ANLS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Hybrid (Full)</a:t>
                      </a:r>
                    </a:p>
                  </a:txBody>
                  <a:tcPr>
                    <a:solidFill>
                      <a:srgbClr val="DC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No Grounding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No Layout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Error Analysis &amp; Visual Evidence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9753356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VLM Failure Mode</a:t>
            </a:r>
            <a:r>
              <a:rPr sz="1900">
                <a:solidFill>
                  <a:srgbClr val="000000"/>
                </a:solidFill>
                <a:latin typeface="Calibri"/>
              </a:rPr>
              <a:t>: Guessing digits incorrectly due to low patch resolution.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Hybrid Precision</a:t>
            </a:r>
            <a:r>
              <a:rPr sz="1900">
                <a:solidFill>
                  <a:srgbClr val="000000"/>
                </a:solidFill>
                <a:latin typeface="Calibri"/>
              </a:rPr>
              <a:t>: Anchoring logic preserves exact numerical strings.</a:t>
            </a:r>
          </a:p>
        </p:txBody>
      </p:sp>
      <p:pic>
        <p:nvPicPr>
          <p:cNvPr id="7" name="Picture 6" descr="hallucin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7" y="1280160"/>
            <a:ext cx="4297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35927" y="56692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7.6: Visual Case Study of VLM Resolution-Loss vs. Hybrid Precision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10566135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Bridging the Gap</a:t>
            </a:r>
            <a:r>
              <a:rPr sz="2200">
                <a:solidFill>
                  <a:srgbClr val="000000"/>
                </a:solidFill>
                <a:latin typeface="Calibri"/>
              </a:rPr>
              <a:t>: Synchronized OCR-VLM architecture successfully bridges the perception-cognition disconnect.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Grounding Efficacy</a:t>
            </a:r>
            <a:r>
              <a:rPr sz="2200">
                <a:solidFill>
                  <a:srgbClr val="000000"/>
                </a:solidFill>
                <a:latin typeface="Calibri"/>
              </a:rPr>
              <a:t>: Deterministic character grounding is vital for eliminating LLM hallucinations in structured enterprise documents.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Standardized Framework</a:t>
            </a:r>
            <a:r>
              <a:rPr sz="2200">
                <a:solidFill>
                  <a:srgbClr val="000000"/>
                </a:solidFill>
                <a:latin typeface="Calibri"/>
              </a:rPr>
              <a:t>: Provides a repeatable, zero-shot system-level benchmark for future Document AI research.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Future Work: Multi-Agent System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11378915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Evolution</a:t>
            </a:r>
            <a:r>
              <a:rPr sz="2200">
                <a:solidFill>
                  <a:srgbClr val="000000"/>
                </a:solidFill>
                <a:latin typeface="Calibri"/>
              </a:rPr>
              <a:t>: Transitioning from a rigid linear pipeline to a cooperative multi-agent network.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Agent Roles</a:t>
            </a:r>
            <a:r>
              <a:rPr sz="2200">
                <a:solidFill>
                  <a:srgbClr val="000000"/>
                </a:solidFill>
                <a:latin typeface="Calibri"/>
              </a:rPr>
              <a:t>: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Layout Agent</a:t>
            </a:r>
            <a:r>
              <a:rPr sz="2200">
                <a:solidFill>
                  <a:srgbClr val="000000"/>
                </a:solidFill>
                <a:latin typeface="Calibri"/>
              </a:rPr>
              <a:t>: Parses boundaries and geometric structures.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OCR Agent</a:t>
            </a:r>
            <a:r>
              <a:rPr sz="2200">
                <a:solidFill>
                  <a:srgbClr val="000000"/>
                </a:solidFill>
                <a:latin typeface="Calibri"/>
              </a:rPr>
              <a:t>: High-fidelity character transcription.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Visual Agent</a:t>
            </a:r>
            <a:r>
              <a:rPr sz="2200">
                <a:solidFill>
                  <a:srgbClr val="000000"/>
                </a:solidFill>
                <a:latin typeface="Calibri"/>
              </a:rPr>
              <a:t>: Processes embedded charts and figures.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Coordinator Agent</a:t>
            </a:r>
            <a:r>
              <a:rPr sz="2200">
                <a:solidFill>
                  <a:srgbClr val="000000"/>
                </a:solidFill>
                <a:latin typeface="Calibri"/>
              </a:rPr>
              <a:t>: Resolves spatial conflicts and synthesizes the final factual answer.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63040"/>
            <a:ext cx="11277295" cy="2011680"/>
          </a:xfrm>
        </p:spPr>
        <p:txBody>
          <a:bodyPr/>
          <a:lstStyle/>
          <a:p>
            <a:pPr algn="ctr">
              <a:defRPr b="1" sz="3600">
                <a:solidFill>
                  <a:srgbClr val="00336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74720"/>
            <a:ext cx="11277295" cy="2926080"/>
          </a:xfrm>
        </p:spPr>
        <p:txBody>
          <a:bodyPr/>
          <a:lstStyle/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Thank You for Your Attention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Questions &amp; Discussion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Tifang Desmond Ngoe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Academic Year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