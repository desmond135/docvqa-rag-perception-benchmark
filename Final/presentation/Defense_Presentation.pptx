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Title 1"/>
          <p:cNvSpPr>
            <a:spLocks noGrp="1"/>
          </p:cNvSpPr>
          <p:nvPr>
            <p:ph type="ctrTitle"/>
          </p:nvPr>
        </p:nvSpPr>
        <p:spPr/>
        <p:txBody>
          <a:bodyPr/>
          <a:lstStyle/>
          <a:p>
            <a:pPr algn="ctr">
              <a:defRPr b="1" sz="4800">
                <a:solidFill>
                  <a:srgbClr val="FFFFFF"/>
                </a:solidFill>
              </a:defRPr>
            </a:pPr>
            <a:r>
              <a:t>Large Language Model as a Tool for Automatic Extraction of Information from PDF Documents</a:t>
            </a:r>
          </a:p>
        </p:txBody>
      </p:sp>
      <p:sp>
        <p:nvSpPr>
          <p:cNvPr id="3" name="Subtitle 2"/>
          <p:cNvSpPr>
            <a:spLocks noGrp="1"/>
          </p:cNvSpPr>
          <p:nvPr>
            <p:ph type="subTitle" idx="1"/>
          </p:nvPr>
        </p:nvSpPr>
        <p:spPr/>
        <p:txBody>
          <a:bodyPr/>
          <a:lstStyle/>
          <a:p>
            <a:pPr algn="ctr">
              <a:defRPr sz="2800">
                <a:solidFill>
                  <a:srgbClr val="FFFFFF"/>
                </a:solidFill>
              </a:defRPr>
            </a:pPr>
            <a:r>
              <a:t>**Master's Defense Presentation**</a:t>
            </a:r>
          </a:p>
          <a:p>
            <a:pPr algn="ctr">
              <a:defRPr sz="2800">
                <a:solidFill>
                  <a:srgbClr val="FFFFFF"/>
                </a:solidFill>
              </a:defRPr>
            </a:pPr>
            <a:r>
              <a:t>Academic Year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1E3A8A"/>
                </a:solidFill>
              </a:defRPr>
            </a:pPr>
            <a:r>
              <a:t>1. The Challenge &amp; Information Extraction as DocVQA</a:t>
            </a:r>
          </a:p>
        </p:txBody>
      </p:sp>
      <p:sp>
        <p:nvSpPr>
          <p:cNvPr id="3" name="Content Placeholder 2"/>
          <p:cNvSpPr>
            <a:spLocks noGrp="1"/>
          </p:cNvSpPr>
          <p:nvPr>
            <p:ph idx="1"/>
          </p:nvPr>
        </p:nvSpPr>
        <p:spPr>
          <a:xfrm>
            <a:off x="1005840" y="1828800"/>
            <a:ext cx="10058400" cy="0"/>
          </a:xfrm>
        </p:spPr>
        <p:txBody>
          <a:bodyPr>
            <a:normAutofit/>
          </a:bodyPr>
          <a:lstStyle/>
          <a:p/>
          <a:p>
            <a:pPr algn="l">
              <a:spcAft>
                <a:spcPts val="1800"/>
              </a:spcAft>
              <a:defRPr sz="2800">
                <a:solidFill>
                  <a:srgbClr val="323232"/>
                </a:solidFill>
                <a:latin typeface="Arial"/>
              </a:defRPr>
            </a:pPr>
            <a:r>
              <a:t>Large volumes of complex PDF documents (invoices, forms, tables) exist.</a:t>
            </a:r>
          </a:p>
          <a:p>
            <a:pPr algn="l">
              <a:spcAft>
                <a:spcPts val="1800"/>
              </a:spcAft>
              <a:defRPr sz="2800">
                <a:solidFill>
                  <a:srgbClr val="323232"/>
                </a:solidFill>
                <a:latin typeface="Arial"/>
              </a:defRPr>
            </a:pPr>
            <a:r>
              <a:t>The Thesis Focus: We define information extraction dynamically as Document Visual Question Answering (DocVQA)—asking questions over PDFs rather than using rigid templates.</a:t>
            </a:r>
          </a:p>
          <a:p>
            <a:pPr algn="l">
              <a:spcAft>
                <a:spcPts val="1800"/>
              </a:spcAft>
              <a:defRPr sz="2800">
                <a:solidFill>
                  <a:srgbClr val="323232"/>
                </a:solidFill>
                <a:latin typeface="Arial"/>
              </a:defRPr>
            </a:pPr>
            <a:r>
              <a:t>The Cognitive Tool: Large Language Models (LLMs) act as the central reasoning engine within a Retrieval-Augmented Generation (RAG) pipeline to ingest facts and generate answers.</a:t>
            </a:r>
          </a:p>
          <a:p>
            <a:pPr algn="l">
              <a:spcAft>
                <a:spcPts val="1800"/>
              </a:spcAft>
              <a:defRPr sz="2800">
                <a:solidFill>
                  <a:srgbClr val="323232"/>
                </a:solidFill>
                <a:latin typeface="Arial"/>
              </a:defRPr>
            </a:pPr>
            <a:r>
              <a:t>The Perception Gap: LLMs are linguistically brilliant but "visually blind." They require images to be processed through external perception strategies (OCR, VLM, Hybrid) to understand PDF spatial layouts before they can generate accurate answers.</a:t>
            </a:r>
          </a:p>
        </p:txBody>
      </p:sp>
      <p:sp>
        <p:nvSpPr>
          <p:cNvPr id="4" name="TextBox 3"/>
          <p:cNvSpPr txBox="1"/>
          <p:nvPr/>
        </p:nvSpPr>
        <p:spPr>
          <a:xfrm>
            <a:off x="11430000" y="6400800"/>
            <a:ext cx="731520" cy="365760"/>
          </a:xfrm>
          <a:prstGeom prst="rect">
            <a:avLst/>
          </a:prstGeom>
          <a:noFill/>
        </p:spPr>
        <p:txBody>
          <a:bodyPr wrap="none">
            <a:spAutoFit/>
          </a:bodyPr>
          <a:lstStyle/>
          <a:p>
            <a:pPr algn="r">
              <a:defRPr sz="1200">
                <a:solidFill>
                  <a:srgbClr val="1E3A8A"/>
                </a:solidFill>
              </a:defRPr>
            </a:pPr>
            <a:r>
              <a:t>1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1E3A8A"/>
                </a:solidFill>
              </a:defRPr>
            </a:pPr>
            <a:r>
              <a:t>2. Methodology: Modular RAG Pipeline</a:t>
            </a:r>
          </a:p>
        </p:txBody>
      </p:sp>
      <p:sp>
        <p:nvSpPr>
          <p:cNvPr id="3" name="Content Placeholder 2"/>
          <p:cNvSpPr>
            <a:spLocks noGrp="1"/>
          </p:cNvSpPr>
          <p:nvPr>
            <p:ph idx="1"/>
          </p:nvPr>
        </p:nvSpPr>
        <p:spPr>
          <a:xfrm>
            <a:off x="457200" y="1645920"/>
            <a:ext cx="5486400" cy="0"/>
          </a:xfrm>
        </p:spPr>
        <p:txBody>
          <a:bodyPr>
            <a:normAutofit/>
          </a:bodyPr>
          <a:lstStyle/>
          <a:p/>
          <a:p>
            <a:pPr algn="l">
              <a:spcAft>
                <a:spcPts val="1800"/>
              </a:spcAft>
              <a:defRPr sz="2800">
                <a:solidFill>
                  <a:srgbClr val="323232"/>
                </a:solidFill>
                <a:latin typeface="Arial"/>
              </a:defRPr>
            </a:pPr>
            <a:r>
              <a:t>Swappable Perception Layers:</a:t>
            </a:r>
          </a:p>
          <a:p>
            <a:pPr algn="l">
              <a:spcAft>
                <a:spcPts val="1800"/>
              </a:spcAft>
              <a:defRPr sz="2800">
                <a:solidFill>
                  <a:srgbClr val="323232"/>
                </a:solidFill>
                <a:latin typeface="Arial"/>
              </a:defRPr>
            </a:pPr>
            <a:r>
              <a:t>Tesseract (Traditional baseline)</a:t>
            </a:r>
          </a:p>
          <a:p>
            <a:pPr algn="l">
              <a:spcAft>
                <a:spcPts val="1800"/>
              </a:spcAft>
              <a:defRPr sz="2800">
                <a:solidFill>
                  <a:srgbClr val="323232"/>
                </a:solidFill>
                <a:latin typeface="Arial"/>
              </a:defRPr>
            </a:pPr>
            <a:r>
              <a:t>PaddleOCR (Deep-learning layout detection)</a:t>
            </a:r>
          </a:p>
          <a:p>
            <a:pPr algn="l">
              <a:spcAft>
                <a:spcPts val="1800"/>
              </a:spcAft>
              <a:defRPr sz="2800">
                <a:solidFill>
                  <a:srgbClr val="323232"/>
                </a:solidFill>
                <a:latin typeface="Arial"/>
              </a:defRPr>
            </a:pPr>
            <a:r>
              <a:t>VLM (End-to-end multimodal extraction)</a:t>
            </a:r>
          </a:p>
          <a:p>
            <a:pPr algn="l">
              <a:spcAft>
                <a:spcPts val="1800"/>
              </a:spcAft>
              <a:defRPr sz="2800">
                <a:solidFill>
                  <a:srgbClr val="323232"/>
                </a:solidFill>
                <a:latin typeface="Arial"/>
              </a:defRPr>
            </a:pPr>
            <a:r>
              <a:t>Hybrid (Dual-stream synchronization)</a:t>
            </a:r>
          </a:p>
        </p:txBody>
      </p:sp>
      <p:sp>
        <p:nvSpPr>
          <p:cNvPr id="4" name="TextBox 3"/>
          <p:cNvSpPr txBox="1"/>
          <p:nvPr/>
        </p:nvSpPr>
        <p:spPr>
          <a:xfrm>
            <a:off x="11430000" y="6400800"/>
            <a:ext cx="731520" cy="365760"/>
          </a:xfrm>
          <a:prstGeom prst="rect">
            <a:avLst/>
          </a:prstGeom>
          <a:noFill/>
        </p:spPr>
        <p:txBody>
          <a:bodyPr wrap="none">
            <a:spAutoFit/>
          </a:bodyPr>
          <a:lstStyle/>
          <a:p>
            <a:pPr algn="r">
              <a:defRPr sz="1200">
                <a:solidFill>
                  <a:srgbClr val="1E3A8A"/>
                </a:solidFill>
              </a:defRPr>
            </a:pPr>
            <a:r>
              <a:t>2 / 7</a:t>
            </a:r>
          </a:p>
        </p:txBody>
      </p:sp>
      <p:pic>
        <p:nvPicPr>
          <p:cNvPr id="5" name="Picture 4" descr="system_architecture.png"/>
          <p:cNvPicPr>
            <a:picLocks noChangeAspect="1"/>
          </p:cNvPicPr>
          <p:nvPr/>
        </p:nvPicPr>
        <p:blipFill>
          <a:blip r:embed="rId2"/>
          <a:stretch>
            <a:fillRect/>
          </a:stretch>
        </p:blipFill>
        <p:spPr>
          <a:xfrm>
            <a:off x="6400800" y="1645920"/>
            <a:ext cx="5303520" cy="5303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1E3A8A"/>
                </a:solidFill>
              </a:defRPr>
            </a:pPr>
            <a:r>
              <a:t>3. Mathematical Foundations</a:t>
            </a:r>
          </a:p>
        </p:txBody>
      </p:sp>
      <p:sp>
        <p:nvSpPr>
          <p:cNvPr id="3" name="Content Placeholder 2"/>
          <p:cNvSpPr>
            <a:spLocks noGrp="1"/>
          </p:cNvSpPr>
          <p:nvPr>
            <p:ph idx="1"/>
          </p:nvPr>
        </p:nvSpPr>
        <p:spPr>
          <a:xfrm>
            <a:off x="1005840" y="1828800"/>
            <a:ext cx="10058400" cy="0"/>
          </a:xfrm>
        </p:spPr>
        <p:txBody>
          <a:bodyPr>
            <a:normAutofit/>
          </a:bodyPr>
          <a:lstStyle/>
          <a:p/>
          <a:p>
            <a:pPr algn="l">
              <a:spcAft>
                <a:spcPts val="1800"/>
              </a:spcAft>
              <a:defRPr sz="2800">
                <a:solidFill>
                  <a:srgbClr val="323232"/>
                </a:solidFill>
                <a:latin typeface="Arial"/>
              </a:defRPr>
            </a:pPr>
            <a:r>
              <a:t>ANLS: Measures soft similarity (String edit distance with OCR noise tolerance).</a:t>
            </a:r>
          </a:p>
          <a:p>
            <a:pPr algn="l">
              <a:spcAft>
                <a:spcPts val="1800"/>
              </a:spcAft>
              <a:defRPr sz="2800">
                <a:solidFill>
                  <a:srgbClr val="323232"/>
                </a:solidFill>
                <a:latin typeface="Arial"/>
              </a:defRPr>
            </a:pPr>
            <a:r>
              <a:t>F1-Score: Harmonic mean of Precision and Recall in retrieval context.</a:t>
            </a:r>
          </a:p>
          <a:p>
            <a:pPr algn="l">
              <a:spcAft>
                <a:spcPts val="1800"/>
              </a:spcAft>
              <a:defRPr sz="2800">
                <a:solidFill>
                  <a:srgbClr val="323232"/>
                </a:solidFill>
                <a:latin typeface="Arial"/>
              </a:defRPr>
            </a:pPr>
            <a:r>
              <a:t>Throughput [S/s]: Measures system scalability (samples per second) as the inverse of latency.</a:t>
            </a:r>
          </a:p>
        </p:txBody>
      </p:sp>
      <p:sp>
        <p:nvSpPr>
          <p:cNvPr id="4" name="TextBox 3"/>
          <p:cNvSpPr txBox="1"/>
          <p:nvPr/>
        </p:nvSpPr>
        <p:spPr>
          <a:xfrm>
            <a:off x="11430000" y="6400800"/>
            <a:ext cx="731520" cy="365760"/>
          </a:xfrm>
          <a:prstGeom prst="rect">
            <a:avLst/>
          </a:prstGeom>
          <a:noFill/>
        </p:spPr>
        <p:txBody>
          <a:bodyPr wrap="none">
            <a:spAutoFit/>
          </a:bodyPr>
          <a:lstStyle/>
          <a:p>
            <a:pPr algn="r">
              <a:defRPr sz="1200">
                <a:solidFill>
                  <a:srgbClr val="1E3A8A"/>
                </a:solidFill>
              </a:defRPr>
            </a:pPr>
            <a:r>
              <a:t>3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1E3A8A"/>
                </a:solidFill>
              </a:defRPr>
            </a:pPr>
            <a:r>
              <a:t>4. The Hybrid Perception Strategy</a:t>
            </a:r>
          </a:p>
        </p:txBody>
      </p:sp>
      <p:sp>
        <p:nvSpPr>
          <p:cNvPr id="3" name="Content Placeholder 2"/>
          <p:cNvSpPr>
            <a:spLocks noGrp="1"/>
          </p:cNvSpPr>
          <p:nvPr>
            <p:ph idx="1"/>
          </p:nvPr>
        </p:nvSpPr>
        <p:spPr>
          <a:xfrm>
            <a:off x="457200" y="1645920"/>
            <a:ext cx="5486400" cy="0"/>
          </a:xfrm>
        </p:spPr>
        <p:txBody>
          <a:bodyPr>
            <a:normAutofit/>
          </a:bodyPr>
          <a:lstStyle/>
          <a:p/>
          <a:p>
            <a:pPr algn="l">
              <a:spcAft>
                <a:spcPts val="1800"/>
              </a:spcAft>
              <a:defRPr sz="2800">
                <a:solidFill>
                  <a:srgbClr val="323232"/>
                </a:solidFill>
                <a:latin typeface="Arial"/>
              </a:defRPr>
            </a:pPr>
            <a:r>
              <a:t>Dual Stream Logic:</a:t>
            </a:r>
          </a:p>
          <a:p>
            <a:pPr algn="l">
              <a:spcAft>
                <a:spcPts val="1800"/>
              </a:spcAft>
              <a:defRPr sz="2800">
                <a:solidFill>
                  <a:srgbClr val="323232"/>
                </a:solidFill>
                <a:latin typeface="Arial"/>
              </a:defRPr>
            </a:pPr>
            <a:r>
              <a:t>Stream 1: Literal OCR character precision (PaddleOCR).</a:t>
            </a:r>
          </a:p>
          <a:p>
            <a:pPr algn="l">
              <a:spcAft>
                <a:spcPts val="1800"/>
              </a:spcAft>
              <a:defRPr sz="2800">
                <a:solidFill>
                  <a:srgbClr val="323232"/>
                </a:solidFill>
                <a:latin typeface="Arial"/>
              </a:defRPr>
            </a:pPr>
            <a:r>
              <a:t>Stream 2: Semantic VLM layout understanding.</a:t>
            </a:r>
          </a:p>
          <a:p>
            <a:pPr algn="l">
              <a:spcAft>
                <a:spcPts val="1800"/>
              </a:spcAft>
              <a:defRPr sz="2800">
                <a:solidFill>
                  <a:srgbClr val="323232"/>
                </a:solidFill>
                <a:latin typeface="Arial"/>
              </a:defRPr>
            </a:pPr>
            <a:r>
              <a:t>Goal: Combining literal character grounding with spatial context.</a:t>
            </a:r>
          </a:p>
        </p:txBody>
      </p:sp>
      <p:sp>
        <p:nvSpPr>
          <p:cNvPr id="4" name="TextBox 3"/>
          <p:cNvSpPr txBox="1"/>
          <p:nvPr/>
        </p:nvSpPr>
        <p:spPr>
          <a:xfrm>
            <a:off x="11430000" y="6400800"/>
            <a:ext cx="731520" cy="365760"/>
          </a:xfrm>
          <a:prstGeom prst="rect">
            <a:avLst/>
          </a:prstGeom>
          <a:noFill/>
        </p:spPr>
        <p:txBody>
          <a:bodyPr wrap="none">
            <a:spAutoFit/>
          </a:bodyPr>
          <a:lstStyle/>
          <a:p>
            <a:pPr algn="r">
              <a:defRPr sz="1200">
                <a:solidFill>
                  <a:srgbClr val="1E3A8A"/>
                </a:solidFill>
              </a:defRPr>
            </a:pPr>
            <a:r>
              <a:t>4 / 7</a:t>
            </a:r>
          </a:p>
        </p:txBody>
      </p:sp>
      <p:pic>
        <p:nvPicPr>
          <p:cNvPr id="5" name="Picture 4" descr="hybrid_workflow.png"/>
          <p:cNvPicPr>
            <a:picLocks noChangeAspect="1"/>
          </p:cNvPicPr>
          <p:nvPr/>
        </p:nvPicPr>
        <p:blipFill>
          <a:blip r:embed="rId2"/>
          <a:stretch>
            <a:fillRect/>
          </a:stretch>
        </p:blipFill>
        <p:spPr>
          <a:xfrm>
            <a:off x="6400800" y="1645920"/>
            <a:ext cx="5303520" cy="5303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1E3A8A"/>
                </a:solidFill>
              </a:defRPr>
            </a:pPr>
            <a:r>
              <a:t>5. Experimental Results</a:t>
            </a:r>
          </a:p>
        </p:txBody>
      </p:sp>
      <p:sp>
        <p:nvSpPr>
          <p:cNvPr id="3" name="Content Placeholder 2"/>
          <p:cNvSpPr>
            <a:spLocks noGrp="1"/>
          </p:cNvSpPr>
          <p:nvPr>
            <p:ph idx="1"/>
          </p:nvPr>
        </p:nvSpPr>
        <p:spPr>
          <a:xfrm>
            <a:off x="1005840" y="1828800"/>
            <a:ext cx="10058400" cy="0"/>
          </a:xfrm>
        </p:spPr>
        <p:txBody>
          <a:bodyPr>
            <a:normAutofit/>
          </a:bodyPr>
          <a:lstStyle/>
          <a:p/>
        </p:txBody>
      </p:sp>
      <p:sp>
        <p:nvSpPr>
          <p:cNvPr id="4" name="TextBox 3"/>
          <p:cNvSpPr txBox="1"/>
          <p:nvPr/>
        </p:nvSpPr>
        <p:spPr>
          <a:xfrm>
            <a:off x="11430000" y="6400800"/>
            <a:ext cx="731520" cy="365760"/>
          </a:xfrm>
          <a:prstGeom prst="rect">
            <a:avLst/>
          </a:prstGeom>
          <a:noFill/>
        </p:spPr>
        <p:txBody>
          <a:bodyPr wrap="none">
            <a:spAutoFit/>
          </a:bodyPr>
          <a:lstStyle/>
          <a:p>
            <a:pPr algn="r">
              <a:defRPr sz="1200">
                <a:solidFill>
                  <a:srgbClr val="1E3A8A"/>
                </a:solidFill>
              </a:defRPr>
            </a:pPr>
            <a:r>
              <a:t>5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1E3A8A"/>
                </a:solidFill>
              </a:defRPr>
            </a:pPr>
            <a:r>
              <a:t>6. Error Analysis</a:t>
            </a:r>
          </a:p>
        </p:txBody>
      </p:sp>
      <p:sp>
        <p:nvSpPr>
          <p:cNvPr id="3" name="Content Placeholder 2"/>
          <p:cNvSpPr>
            <a:spLocks noGrp="1"/>
          </p:cNvSpPr>
          <p:nvPr>
            <p:ph idx="1"/>
          </p:nvPr>
        </p:nvSpPr>
        <p:spPr>
          <a:xfrm>
            <a:off x="1005840" y="1828800"/>
            <a:ext cx="10058400" cy="0"/>
          </a:xfrm>
        </p:spPr>
        <p:txBody>
          <a:bodyPr>
            <a:normAutofit/>
          </a:bodyPr>
          <a:lstStyle/>
          <a:p/>
          <a:p>
            <a:pPr algn="l">
              <a:spcAft>
                <a:spcPts val="1800"/>
              </a:spcAft>
              <a:defRPr sz="2800">
                <a:solidFill>
                  <a:srgbClr val="323232"/>
                </a:solidFill>
                <a:latin typeface="Arial"/>
              </a:defRPr>
            </a:pPr>
            <a:r>
              <a:t>OCR Misreading: Character confusion (`0` vs `O`) cascades into Exact Match (EM) failure.</a:t>
            </a:r>
          </a:p>
          <a:p>
            <a:pPr algn="l">
              <a:spcAft>
                <a:spcPts val="1800"/>
              </a:spcAft>
              <a:defRPr sz="2800">
                <a:solidFill>
                  <a:srgbClr val="323232"/>
                </a:solidFill>
                <a:latin typeface="Arial"/>
              </a:defRPr>
            </a:pPr>
            <a:r>
              <a:t>Layout Fragmentation: Traditional OCR reads across columns, isolating values from their headers.</a:t>
            </a:r>
          </a:p>
          <a:p>
            <a:pPr algn="l">
              <a:spcAft>
                <a:spcPts val="1800"/>
              </a:spcAft>
              <a:defRPr sz="2800">
                <a:solidFill>
                  <a:srgbClr val="323232"/>
                </a:solidFill>
                <a:latin typeface="Arial"/>
              </a:defRPr>
            </a:pPr>
            <a:r>
              <a:t>Retrieval Ambiguity: FAISS struggles with repeated values (e.g., "$0.00") in dense tables, retrieving the correct string from the wrong geometric row.</a:t>
            </a:r>
          </a:p>
          <a:p>
            <a:pPr algn="l">
              <a:spcAft>
                <a:spcPts val="1800"/>
              </a:spcAft>
              <a:defRPr sz="2800">
                <a:solidFill>
                  <a:srgbClr val="323232"/>
                </a:solidFill>
                <a:latin typeface="Arial"/>
              </a:defRPr>
            </a:pPr>
            <a:r>
              <a:t>Formatting: Predicting "$1k" instead of "1000".</a:t>
            </a:r>
          </a:p>
        </p:txBody>
      </p:sp>
      <p:sp>
        <p:nvSpPr>
          <p:cNvPr id="4" name="TextBox 3"/>
          <p:cNvSpPr txBox="1"/>
          <p:nvPr/>
        </p:nvSpPr>
        <p:spPr>
          <a:xfrm>
            <a:off x="11430000" y="6400800"/>
            <a:ext cx="731520" cy="365760"/>
          </a:xfrm>
          <a:prstGeom prst="rect">
            <a:avLst/>
          </a:prstGeom>
          <a:noFill/>
        </p:spPr>
        <p:txBody>
          <a:bodyPr wrap="none">
            <a:spAutoFit/>
          </a:bodyPr>
          <a:lstStyle/>
          <a:p>
            <a:pPr algn="r">
              <a:defRPr sz="1200">
                <a:solidFill>
                  <a:srgbClr val="1E3A8A"/>
                </a:solidFill>
              </a:defRPr>
            </a:pPr>
            <a:r>
              <a:t>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1E3A8A"/>
                </a:solidFill>
              </a:defRPr>
            </a:pPr>
            <a:r>
              <a:t>7. Key Findings &amp; Conclusion</a:t>
            </a:r>
          </a:p>
        </p:txBody>
      </p:sp>
      <p:sp>
        <p:nvSpPr>
          <p:cNvPr id="3" name="Content Placeholder 2"/>
          <p:cNvSpPr>
            <a:spLocks noGrp="1"/>
          </p:cNvSpPr>
          <p:nvPr>
            <p:ph idx="1"/>
          </p:nvPr>
        </p:nvSpPr>
        <p:spPr>
          <a:xfrm>
            <a:off x="1005840" y="1828800"/>
            <a:ext cx="10058400" cy="0"/>
          </a:xfrm>
        </p:spPr>
        <p:txBody>
          <a:bodyPr>
            <a:normAutofit/>
          </a:bodyPr>
          <a:lstStyle/>
          <a:p/>
          <a:p>
            <a:pPr algn="l">
              <a:spcAft>
                <a:spcPts val="1800"/>
              </a:spcAft>
              <a:defRPr sz="2800">
                <a:solidFill>
                  <a:srgbClr val="323232"/>
                </a:solidFill>
                <a:latin typeface="Arial"/>
              </a:defRPr>
            </a:pPr>
            <a:r>
              <a:t>Hybrid is the gold standard for mission-critical accuracy, suppressing VLM hallucinations using OCR literal grounding.</a:t>
            </a:r>
          </a:p>
          <a:p>
            <a:pPr algn="l">
              <a:spcAft>
                <a:spcPts val="1800"/>
              </a:spcAft>
              <a:defRPr sz="2800">
                <a:solidFill>
                  <a:srgbClr val="323232"/>
                </a:solidFill>
                <a:latin typeface="Arial"/>
              </a:defRPr>
            </a:pPr>
            <a:r>
              <a:t>VLM is optimal for high-throughput, low-latency applications but cannot be trusted for financial precision.</a:t>
            </a:r>
          </a:p>
          <a:p>
            <a:pPr algn="l">
              <a:spcAft>
                <a:spcPts val="1800"/>
              </a:spcAft>
              <a:defRPr sz="2800">
                <a:solidFill>
                  <a:srgbClr val="323232"/>
                </a:solidFill>
                <a:latin typeface="Arial"/>
              </a:defRPr>
            </a:pPr>
            <a:r>
              <a:t>Future Work: Optimizing Dual-Stream latency via model quantization and GPU asynchronous execution.</a:t>
            </a:r>
          </a:p>
        </p:txBody>
      </p:sp>
      <p:sp>
        <p:nvSpPr>
          <p:cNvPr id="4" name="TextBox 3"/>
          <p:cNvSpPr txBox="1"/>
          <p:nvPr/>
        </p:nvSpPr>
        <p:spPr>
          <a:xfrm>
            <a:off x="11430000" y="6400800"/>
            <a:ext cx="731520" cy="365760"/>
          </a:xfrm>
          <a:prstGeom prst="rect">
            <a:avLst/>
          </a:prstGeom>
          <a:noFill/>
        </p:spPr>
        <p:txBody>
          <a:bodyPr wrap="none">
            <a:spAutoFit/>
          </a:bodyPr>
          <a:lstStyle/>
          <a:p>
            <a:pPr algn="r">
              <a:defRPr sz="1200">
                <a:solidFill>
                  <a:srgbClr val="1E3A8A"/>
                </a:solidFill>
              </a:defRPr>
            </a:pPr>
            <a: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