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800">
                <a:solidFill>
                  <a:srgbClr val="FFFFFF"/>
                </a:solidFill>
              </a:defRPr>
            </a:pPr>
            <a:r>
              <a:t>Systems-Level Reliability Evaluation for Document AI: Bridging the Perception-Cognition Gap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**Master's Defense Presentation**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1. The Challenge: Reliability in Document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The Pr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blem: 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erprise appli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ns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eman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zer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-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leran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 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rrup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when 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ing inf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fr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m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mplex PDFs (inv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es, me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 re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r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s, finan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ial 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rms).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oc</a:t>
            </a:r>
            <a:r>
              <a:rPr sz="2800">
                <a:solidFill>
                  <a:srgbClr val="323232"/>
                </a:solidFill>
                <a:latin typeface="Arial"/>
              </a:rPr>
              <a:t>VQ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ure: We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ynami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ally frame 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as D</a:t>
            </a:r>
            <a:r>
              <a:rPr sz="2800">
                <a:solidFill>
                  <a:srgbClr val="323232"/>
                </a:solidFill>
                <a:latin typeface="Arial"/>
              </a:rPr>
              <a:t>oc</a:t>
            </a:r>
            <a:r>
              <a:rPr sz="2800">
                <a:solidFill>
                  <a:srgbClr val="323232"/>
                </a:solidFill>
                <a:latin typeface="Arial"/>
              </a:rPr>
              <a:t>umen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Visual Ques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nswering (D</a:t>
            </a:r>
            <a:r>
              <a:rPr sz="2800">
                <a:solidFill>
                  <a:srgbClr val="323232"/>
                </a:solidFill>
                <a:latin typeface="Arial"/>
              </a:rPr>
              <a:t>oc</a:t>
            </a:r>
            <a:r>
              <a:rPr sz="2800">
                <a:solidFill>
                  <a:srgbClr val="323232"/>
                </a:solidFill>
                <a:latin typeface="Arial"/>
              </a:rPr>
              <a:t>VQ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), using Large Language M</a:t>
            </a:r>
            <a:r>
              <a:rPr sz="2800">
                <a:solidFill>
                  <a:srgbClr val="323232"/>
                </a:solidFill>
                <a:latin typeface="Arial"/>
              </a:rPr>
              <a:t>od</a:t>
            </a:r>
            <a:r>
              <a:rPr sz="2800">
                <a:solidFill>
                  <a:srgbClr val="323232"/>
                </a:solidFill>
                <a:latin typeface="Arial"/>
              </a:rPr>
              <a:t>els (LLMs) as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gni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ive reas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ning engine.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The Per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ep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n-C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gni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Gap: While LLMs are linguis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ally brillian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,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hey are "visually blin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". They mus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rely 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ernal per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ep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layers 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 un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ers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spa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ial 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s.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The Evalua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G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al: T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 es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ablish a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mprehensive sys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ems-level evalua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framew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rk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ben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hmarks 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reliabili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y, is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la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ing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 exa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e-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ffs be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ween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erminis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pre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isi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genera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ive visual hallu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ina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2. Methodology: Modular 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5486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Swappable Per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ep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Layers: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Tessera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 (Tra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nal baseline)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Pa</a:t>
            </a:r>
            <a:r>
              <a:rPr sz="2800">
                <a:solidFill>
                  <a:srgbClr val="323232"/>
                </a:solidFill>
                <a:latin typeface="Arial"/>
              </a:rPr>
              <a:t>dd</a:t>
            </a:r>
            <a:r>
              <a:rPr sz="2800">
                <a:solidFill>
                  <a:srgbClr val="323232"/>
                </a:solidFill>
                <a:latin typeface="Arial"/>
              </a:rPr>
              <a:t>leOCR (Deep-learning 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n)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VLM (En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-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-en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mul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im</a:t>
            </a:r>
            <a:r>
              <a:rPr sz="2800">
                <a:solidFill>
                  <a:srgbClr val="323232"/>
                </a:solidFill>
                <a:latin typeface="Arial"/>
              </a:rPr>
              <a:t>od</a:t>
            </a:r>
            <a:r>
              <a:rPr sz="2800">
                <a:solidFill>
                  <a:srgbClr val="323232"/>
                </a:solidFill>
                <a:latin typeface="Arial"/>
              </a:rPr>
              <a:t>al 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n)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Hybri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(Dual-s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ream syn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niza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2 / 7</a:t>
            </a:r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6182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3. Mathematical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/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NLS: Measures 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f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similari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 (S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ring 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 wi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 OCR n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ise 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leran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e).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Exa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 Ma</a:t>
            </a:r>
            <a:r>
              <a:rPr sz="2800">
                <a:solidFill>
                  <a:srgbClr val="323232"/>
                </a:solidFill>
                <a:latin typeface="Arial"/>
              </a:rPr>
              <a:t>tc</a:t>
            </a:r>
            <a:r>
              <a:rPr sz="2800">
                <a:solidFill>
                  <a:srgbClr val="323232"/>
                </a:solidFill>
                <a:latin typeface="Arial"/>
              </a:rPr>
              <a:t>h (EM): 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bs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lu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 i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 sim(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hbf{P}, 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hbf{G}) = 1.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F1-S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re: Harm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mean 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f Pre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isi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Re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all in re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rieval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sine Similari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y: sim(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hbf{q}, 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}) = 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fra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{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hbf{q} </a:t>
            </a:r>
            <a:r>
              <a:rPr sz="2800">
                <a:solidFill>
                  <a:srgbClr val="323232"/>
                </a:solidFill>
                <a:latin typeface="Arial"/>
              </a:rPr>
              <a:t>\cdot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}}{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|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hbf{q}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| 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|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}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|}.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Thr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ughpu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[S/s]: S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alabili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 me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(Tp = 1/L).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4. The Hybrid Perception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5486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Dual 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ream L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gi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: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ream 1: 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eral OCR 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hara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er pre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isi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(Pa</a:t>
            </a:r>
            <a:r>
              <a:rPr sz="2800">
                <a:solidFill>
                  <a:srgbClr val="323232"/>
                </a:solidFill>
                <a:latin typeface="Arial"/>
              </a:rPr>
              <a:t>dd</a:t>
            </a:r>
            <a:r>
              <a:rPr sz="2800">
                <a:solidFill>
                  <a:srgbClr val="323232"/>
                </a:solidFill>
                <a:latin typeface="Arial"/>
              </a:rPr>
              <a:t>leOCR).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ream 2: Seman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VLM 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un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ers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ing.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G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al: C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mbining 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eral 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hara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er gr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ing wi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 spa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ial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4 / 7</a:t>
            </a:r>
          </a:p>
        </p:txBody>
      </p:sp>
      <p:pic>
        <p:nvPicPr>
          <p:cNvPr id="5" name="Picture 4" descr="hybri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52496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5. 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6. 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OCR Misrea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ing: Chara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er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nfusi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(`0` vs `O`) 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as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es in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 Exa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 Ma</a:t>
            </a:r>
            <a:r>
              <a:rPr sz="2800">
                <a:solidFill>
                  <a:srgbClr val="323232"/>
                </a:solidFill>
                <a:latin typeface="Arial"/>
              </a:rPr>
              <a:t>tc</a:t>
            </a:r>
            <a:r>
              <a:rPr sz="2800">
                <a:solidFill>
                  <a:srgbClr val="323232"/>
                </a:solidFill>
                <a:latin typeface="Arial"/>
              </a:rPr>
              <a:t>h (EM) failure.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Fragmen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n: Tra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nal OCR rea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s a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ss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lumns, is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la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ing values fr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m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heir hea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ers.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Re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rieval 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mbigui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y: F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ISS 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ruggles wi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 repea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values (e.g., "$0.00") in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ense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ables, re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rieving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rre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 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ring fr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m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 wr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ng ge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me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w.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rma</a:t>
            </a:r>
            <a:r>
              <a:rPr sz="2800">
                <a:solidFill>
                  <a:srgbClr val="323232"/>
                </a:solidFill>
                <a:latin typeface="Arial"/>
              </a:rPr>
              <a:t>tt</a:t>
            </a:r>
            <a:r>
              <a:rPr sz="2800">
                <a:solidFill>
                  <a:srgbClr val="323232"/>
                </a:solidFill>
                <a:latin typeface="Arial"/>
              </a:rPr>
              <a:t>ing: Pre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ing "$1k" ins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f "1000".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7. Key Findings &amp; System Robustness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Hybri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Syn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niza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as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 G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l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ar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: Fusing 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eral 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hara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er gr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ing wi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 seman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awareness is essen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ial 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 suppressing res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lu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n-l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ss hallu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ina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ns in missi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n-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ri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asks.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VLM Limi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ns: While 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al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ne VLMs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eliver high-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ughpu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,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heir vulnerabili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 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 res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lu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n-l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ss makes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hem 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ru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urally unreliable 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 exa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-ma</a:t>
            </a:r>
            <a:r>
              <a:rPr sz="2800">
                <a:solidFill>
                  <a:srgbClr val="323232"/>
                </a:solidFill>
                <a:latin typeface="Arial"/>
              </a:rPr>
              <a:t>tc</a:t>
            </a:r>
            <a:r>
              <a:rPr sz="2800">
                <a:solidFill>
                  <a:srgbClr val="323232"/>
                </a:solidFill>
                <a:latin typeface="Arial"/>
              </a:rPr>
              <a:t>h finan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ial pre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isi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Evalua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Impa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: This framew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rk su</a:t>
            </a:r>
            <a:r>
              <a:rPr sz="2800">
                <a:solidFill>
                  <a:srgbClr val="323232"/>
                </a:solidFill>
                <a:latin typeface="Arial"/>
              </a:rPr>
              <a:t>cc</a:t>
            </a:r>
            <a:r>
              <a:rPr sz="2800">
                <a:solidFill>
                  <a:srgbClr val="323232"/>
                </a:solidFill>
                <a:latin typeface="Arial"/>
              </a:rPr>
              <a:t>essfully quan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ifies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e-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ffs be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ween per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ep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m</a:t>
            </a:r>
            <a:r>
              <a:rPr sz="2800">
                <a:solidFill>
                  <a:srgbClr val="323232"/>
                </a:solidFill>
                <a:latin typeface="Arial"/>
              </a:rPr>
              <a:t>od</a:t>
            </a:r>
            <a:r>
              <a:rPr sz="2800">
                <a:solidFill>
                  <a:srgbClr val="323232"/>
                </a:solidFill>
                <a:latin typeface="Arial"/>
              </a:rPr>
              <a:t>ali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ies, pr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vi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ing a verifiable pa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 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rwar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 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bus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in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us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rial D</a:t>
            </a:r>
            <a:r>
              <a:rPr sz="2800">
                <a:solidFill>
                  <a:srgbClr val="323232"/>
                </a:solidFill>
                <a:latin typeface="Arial"/>
              </a:rPr>
              <a:t>oc</a:t>
            </a:r>
            <a:r>
              <a:rPr sz="2800">
                <a:solidFill>
                  <a:srgbClr val="323232"/>
                </a:solidFill>
                <a:latin typeface="Arial"/>
              </a:rPr>
              <a:t>umen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I.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Fu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ure W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rk: Op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imizing Dual-S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ream la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y via GPU-a</a:t>
            </a:r>
            <a:r>
              <a:rPr sz="2800">
                <a:solidFill>
                  <a:srgbClr val="323232"/>
                </a:solidFill>
                <a:latin typeface="Arial"/>
              </a:rPr>
              <a:t>cc</a:t>
            </a:r>
            <a:r>
              <a:rPr sz="2800">
                <a:solidFill>
                  <a:srgbClr val="323232"/>
                </a:solidFill>
                <a:latin typeface="Arial"/>
              </a:rPr>
              <a:t>elera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asyn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us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ens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 pr</a:t>
            </a:r>
            <a:r>
              <a:rPr sz="2800">
                <a:solidFill>
                  <a:srgbClr val="323232"/>
                </a:solidFill>
                <a:latin typeface="Arial"/>
              </a:rPr>
              <a:t>oc</a:t>
            </a:r>
            <a:r>
              <a:rPr sz="2800">
                <a:solidFill>
                  <a:srgbClr val="323232"/>
                </a:solidFill>
                <a:latin typeface="Arial"/>
              </a:rPr>
              <a:t>essing.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