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b="1" sz="4800">
                <a:solidFill>
                  <a:srgbClr val="FFFFFF"/>
                </a:solidFill>
              </a:defRPr>
            </a:pPr>
            <a:r>
              <a:t>Systems-Level Reliability Evaluation for Document AI: Bridging the Perception-Cognition Gap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**Master's Defense Presentation**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1. The Challenge: Reliability in Document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The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blem: 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erprise appli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eman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zer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leran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rrup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when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ing inf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mplex PDFs (inv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es, me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 re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s, finan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ial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rms).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VQ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ure: We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ynami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frame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as 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Visual Ques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nswering (D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VQ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), using Large Language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els (LLMs) as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gni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ive reas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ning engine.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The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gni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Gap: While LLMs are linguis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brillian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,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hey la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k spa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awareness. They mus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rely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ernal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layers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ers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Resear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 Gap: Curren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sys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ems ei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her fla</a:t>
            </a:r>
            <a:r>
              <a:rPr sz="2800">
                <a:solidFill>
                  <a:srgbClr val="323232"/>
                </a:solidFill>
                <a:latin typeface="Arial"/>
              </a:rPr>
              <a:t>tt</a:t>
            </a:r>
            <a:r>
              <a:rPr sz="2800">
                <a:solidFill>
                  <a:srgbClr val="323232"/>
                </a:solidFill>
                <a:latin typeface="Arial"/>
              </a:rPr>
              <a:t>en </a:t>
            </a:r>
            <a:r>
              <a:rPr sz="2800">
                <a:solidFill>
                  <a:srgbClr val="323232"/>
                </a:solidFill>
                <a:latin typeface="Arial"/>
              </a:rPr>
              <a:t>doc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s,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sing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ure (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OCR),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suffer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ue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inpu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rain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s (en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-en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VLMs).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2. Research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2. Methodology: Modular RAG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Swappable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Layers: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Tessera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(Tra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baseline)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Pa</a:t>
            </a:r>
            <a:r>
              <a:rPr sz="2800">
                <a:solidFill>
                  <a:srgbClr val="323232"/>
                </a:solidFill>
                <a:latin typeface="Arial"/>
              </a:rPr>
              <a:t>dd</a:t>
            </a:r>
            <a:r>
              <a:rPr sz="2800">
                <a:solidFill>
                  <a:srgbClr val="323232"/>
                </a:solidFill>
                <a:latin typeface="Arial"/>
              </a:rPr>
              <a:t>leOCR (Deep-learning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VLM (En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-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-en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mul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al 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Hybri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(Dual-s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syn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niza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3 / 8</a:t>
            </a:r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6182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3. Mathematical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/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NLS: Measures 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similari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(S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ring 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OCR n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ise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leran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Exa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Ma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 (EM):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bs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 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sim(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hbf{P},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hbf{G}) = 1.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F1-S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re: Harm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mean 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 in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sine Similari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y: sim(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hbf{q},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}) =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fra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{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 </a:t>
            </a:r>
            <a:r>
              <a:rPr sz="2800">
                <a:solidFill>
                  <a:srgbClr val="323232"/>
                </a:solidFill>
                <a:latin typeface="Arial"/>
              </a:rPr>
              <a:t>\cdot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}}{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hbf{q}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 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ma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hbf{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}</a:t>
            </a:r>
            <a:r>
              <a:rPr sz="2800">
                <a:solidFill>
                  <a:srgbClr val="323232"/>
                </a:solidFill>
                <a:latin typeface="Arial"/>
              </a:rPr>
              <a:t>\</a:t>
            </a:r>
            <a:r>
              <a:rPr sz="2800">
                <a:solidFill>
                  <a:srgbClr val="323232"/>
                </a:solidFill>
                <a:latin typeface="Arial"/>
              </a:rPr>
              <a:t>|}.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Thr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ughpu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[S/s]: S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alabili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me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(Tp = 1/L).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4. The Hybrid Perception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Dual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gi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1: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OCR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(Pa</a:t>
            </a:r>
            <a:r>
              <a:rPr sz="2800">
                <a:solidFill>
                  <a:srgbClr val="323232"/>
                </a:solidFill>
                <a:latin typeface="Arial"/>
              </a:rPr>
              <a:t>dd</a:t>
            </a:r>
            <a:r>
              <a:rPr sz="2800">
                <a:solidFill>
                  <a:srgbClr val="323232"/>
                </a:solidFill>
                <a:latin typeface="Arial"/>
              </a:rPr>
              <a:t>leOCR).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2: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VLM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ers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G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al: C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mbining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gr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spa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ex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5 / 8</a:t>
            </a:r>
          </a:p>
        </p:txBody>
      </p:sp>
      <p:pic>
        <p:nvPicPr>
          <p:cNvPr id="5" name="Picture 4" descr="hybri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52496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5. Experimental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7. Error Analysis and Hallucinations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ns: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ne VLMs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babilis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ally guess numbers when inpu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pa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hes are </a:t>
            </a:r>
            <a:r>
              <a:rPr sz="2800">
                <a:solidFill>
                  <a:srgbClr val="323232"/>
                </a:solidFill>
                <a:latin typeface="Arial"/>
              </a:rPr>
              <a:t>do</a:t>
            </a:r>
            <a:r>
              <a:rPr sz="2800">
                <a:solidFill>
                  <a:srgbClr val="323232"/>
                </a:solidFill>
                <a:latin typeface="Arial"/>
              </a:rPr>
              <a:t>wnsample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, genera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ing plausible bu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in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answers.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Fragmen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n: Tra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nal OCR rea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s a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lumns,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ying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rela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nships 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p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is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ning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in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ex.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rieval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mbigui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y: F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ISS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ruggles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repea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values (e.g., "$0.00") in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ense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ables, re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rieving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co</a:t>
            </a:r>
            <a:r>
              <a:rPr sz="2800">
                <a:solidFill>
                  <a:srgbClr val="323232"/>
                </a:solidFill>
                <a:latin typeface="Arial"/>
              </a:rPr>
              <a:t>rre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ring fr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wr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ng ge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me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1E3A8A"/>
                </a:solidFill>
              </a:defRPr>
            </a:pPr>
            <a:r>
              <a:t>7. Key Findings &amp; System Robustness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Hybri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Syn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niza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as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G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ar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: Fusing 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eral 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hara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er gr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wi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seman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 lay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awareness is essen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ial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suppressing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hallu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ina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 in missi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ri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al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asks.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VLM Limi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ns: While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an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al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ne VLMs 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eliver high-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ughpu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,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heir vulnerabili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y </a:t>
            </a:r>
            <a:r>
              <a:rPr sz="2800">
                <a:solidFill>
                  <a:srgbClr val="323232"/>
                </a:solidFill>
                <a:latin typeface="Arial"/>
              </a:rPr>
              <a:t>to</a:t>
            </a:r>
            <a:r>
              <a:rPr sz="2800">
                <a:solidFill>
                  <a:srgbClr val="323232"/>
                </a:solidFill>
                <a:latin typeface="Arial"/>
              </a:rPr>
              <a:t> res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lu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n-l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ss makes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hem 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ru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urally unreliable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exa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-ma</a:t>
            </a:r>
            <a:r>
              <a:rPr sz="2800">
                <a:solidFill>
                  <a:srgbClr val="323232"/>
                </a:solidFill>
                <a:latin typeface="Arial"/>
              </a:rPr>
              <a:t>tc</a:t>
            </a:r>
            <a:r>
              <a:rPr sz="2800">
                <a:solidFill>
                  <a:srgbClr val="323232"/>
                </a:solidFill>
                <a:latin typeface="Arial"/>
              </a:rPr>
              <a:t>h finan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ial pre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isi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Evalua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Impa</a:t>
            </a:r>
            <a:r>
              <a:rPr sz="2800">
                <a:solidFill>
                  <a:srgbClr val="323232"/>
                </a:solidFill>
                <a:latin typeface="Arial"/>
              </a:rPr>
              <a:t>ct</a:t>
            </a:r>
            <a:r>
              <a:rPr sz="2800">
                <a:solidFill>
                  <a:srgbClr val="323232"/>
                </a:solidFill>
                <a:latin typeface="Arial"/>
              </a:rPr>
              <a:t>: This framew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rk su</a:t>
            </a:r>
            <a:r>
              <a:rPr sz="2800">
                <a:solidFill>
                  <a:srgbClr val="323232"/>
                </a:solidFill>
                <a:latin typeface="Arial"/>
              </a:rPr>
              <a:t>cc</a:t>
            </a:r>
            <a:r>
              <a:rPr sz="2800">
                <a:solidFill>
                  <a:srgbClr val="323232"/>
                </a:solidFill>
                <a:latin typeface="Arial"/>
              </a:rPr>
              <a:t>essfully quan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ifies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he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ra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e-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ffs be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ween per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ep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 m</a:t>
            </a:r>
            <a:r>
              <a:rPr sz="2800">
                <a:solidFill>
                  <a:srgbClr val="323232"/>
                </a:solidFill>
                <a:latin typeface="Arial"/>
              </a:rPr>
              <a:t>od</a:t>
            </a:r>
            <a:r>
              <a:rPr sz="2800">
                <a:solidFill>
                  <a:srgbClr val="323232"/>
                </a:solidFill>
                <a:latin typeface="Arial"/>
              </a:rPr>
              <a:t>ali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ies, pr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vi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ing a verifiable pa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h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rwar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f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bus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in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us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rial D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umen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 </a:t>
            </a:r>
            <a:r>
              <a:rPr sz="2800" b="1">
                <a:solidFill>
                  <a:srgbClr val="1E3A8A"/>
                </a:solidFill>
                <a:latin typeface="Arial"/>
              </a:rPr>
              <a:t>A</a:t>
            </a:r>
            <a:r>
              <a:rPr sz="2800">
                <a:solidFill>
                  <a:srgbClr val="323232"/>
                </a:solidFill>
                <a:latin typeface="Arial"/>
              </a:rPr>
              <a:t>I.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323232"/>
                </a:solidFill>
                <a:latin typeface="Arial"/>
              </a:rPr>
              <a:t>Fu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ure W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rk: Op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imizing Dual-S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ream la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y via GPU-a</a:t>
            </a:r>
            <a:r>
              <a:rPr sz="2800">
                <a:solidFill>
                  <a:srgbClr val="323232"/>
                </a:solidFill>
                <a:latin typeface="Arial"/>
              </a:rPr>
              <a:t>cc</a:t>
            </a:r>
            <a:r>
              <a:rPr sz="2800">
                <a:solidFill>
                  <a:srgbClr val="323232"/>
                </a:solidFill>
                <a:latin typeface="Arial"/>
              </a:rPr>
              <a:t>elera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</a:t>
            </a:r>
            <a:r>
              <a:rPr sz="2800">
                <a:solidFill>
                  <a:srgbClr val="323232"/>
                </a:solidFill>
                <a:latin typeface="Arial"/>
              </a:rPr>
              <a:t>d</a:t>
            </a:r>
            <a:r>
              <a:rPr sz="2800">
                <a:solidFill>
                  <a:srgbClr val="323232"/>
                </a:solidFill>
                <a:latin typeface="Arial"/>
              </a:rPr>
              <a:t> asyn</a:t>
            </a:r>
            <a:r>
              <a:rPr sz="2800">
                <a:solidFill>
                  <a:srgbClr val="323232"/>
                </a:solidFill>
                <a:latin typeface="Arial"/>
              </a:rPr>
              <a:t>c</a:t>
            </a:r>
            <a:r>
              <a:rPr sz="2800">
                <a:solidFill>
                  <a:srgbClr val="323232"/>
                </a:solidFill>
                <a:latin typeface="Arial"/>
              </a:rPr>
              <a:t>hr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n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us </a:t>
            </a:r>
            <a:r>
              <a:rPr sz="2800">
                <a:solidFill>
                  <a:srgbClr val="323232"/>
                </a:solidFill>
                <a:latin typeface="Arial"/>
              </a:rPr>
              <a:t>t</a:t>
            </a:r>
            <a:r>
              <a:rPr sz="2800">
                <a:solidFill>
                  <a:srgbClr val="323232"/>
                </a:solidFill>
                <a:latin typeface="Arial"/>
              </a:rPr>
              <a:t>ens</a:t>
            </a:r>
            <a:r>
              <a:rPr sz="2800">
                <a:solidFill>
                  <a:srgbClr val="323232"/>
                </a:solidFill>
                <a:latin typeface="Arial"/>
              </a:rPr>
              <a:t>o</a:t>
            </a:r>
            <a:r>
              <a:rPr sz="2800">
                <a:solidFill>
                  <a:srgbClr val="323232"/>
                </a:solidFill>
                <a:latin typeface="Arial"/>
              </a:rPr>
              <a:t>r pr</a:t>
            </a:r>
            <a:r>
              <a:rPr sz="2800">
                <a:solidFill>
                  <a:srgbClr val="323232"/>
                </a:solidFill>
                <a:latin typeface="Arial"/>
              </a:rPr>
              <a:t>oc</a:t>
            </a:r>
            <a:r>
              <a:rPr sz="2800">
                <a:solidFill>
                  <a:srgbClr val="323232"/>
                </a:solidFill>
                <a:latin typeface="Arial"/>
              </a:rPr>
              <a:t>essing.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1E3A8A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