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63040"/>
            <a:ext cx="11277295" cy="2011680"/>
          </a:xfrm>
        </p:spPr>
        <p:txBody>
          <a:bodyPr/>
          <a:lstStyle/>
          <a:p>
            <a:pPr algn="ctr">
              <a:defRPr b="1" sz="3600">
                <a:solidFill>
                  <a:srgbClr val="003366"/>
                </a:solidFill>
                <a:latin typeface="Calibri"/>
              </a:defRPr>
            </a:pPr>
            <a:r>
              <a:t>Systems-Level Reliability and Robustness Evaluation Framework for Document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474720"/>
            <a:ext cx="11277295" cy="2926080"/>
          </a:xfrm>
        </p:spPr>
        <p:txBody>
          <a:bodyPr/>
          <a:lstStyle/>
          <a:p>
            <a:pPr algn="ctr">
              <a:defRPr sz="1600">
                <a:solidFill>
                  <a:srgbClr val="000000"/>
                </a:solidFill>
                <a:latin typeface="Calibri"/>
              </a:defRPr>
            </a:pPr>
            <a:r>
              <a:t>Master's Thesis Defense</a:t>
            </a:r>
          </a:p>
          <a:p>
            <a:pPr algn="ctr">
              <a:defRPr sz="1600">
                <a:solidFill>
                  <a:srgbClr val="000000"/>
                </a:solidFill>
                <a:latin typeface="Calibri"/>
              </a:defRPr>
            </a:pPr>
            <a:r>
              <a:t>Tifang Desmond Ngoe</a:t>
            </a:r>
          </a:p>
          <a:p>
            <a:pPr algn="ctr">
              <a:defRPr sz="1600">
                <a:solidFill>
                  <a:srgbClr val="000000"/>
                </a:solidFill>
                <a:latin typeface="Calibri"/>
              </a:defRPr>
            </a:pPr>
            <a:r>
              <a:t>Czestochowa University of Technology</a:t>
            </a:r>
          </a:p>
          <a:p>
            <a:pPr algn="ctr">
              <a:defRPr sz="1600">
                <a:solidFill>
                  <a:srgbClr val="000000"/>
                </a:solidFill>
                <a:latin typeface="Calibri"/>
              </a:defRPr>
            </a:pPr>
            <a:r>
              <a:t>Supervisor: Prof. Piotr Duda</a:t>
            </a:r>
          </a:p>
          <a:p>
            <a:pPr algn="ctr">
              <a:defRPr sz="1600">
                <a:solidFill>
                  <a:srgbClr val="000000"/>
                </a:solidFill>
                <a:latin typeface="Calibri"/>
              </a:defRPr>
            </a:pPr>
            <a:r>
              <a:t>Academic Year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Introduction / Problem Statement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641668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1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Document AI Complexity</a:t>
            </a:r>
            <a:r>
              <a:rPr sz="2200">
                <a:solidFill>
                  <a:srgbClr val="000000"/>
                </a:solidFill>
                <a:latin typeface="Calibri"/>
              </a:rPr>
              <a:t>: Modern enterprise pipelines rely heavily on automated extraction of information from complex PDF documents.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The PDF Challenge</a:t>
            </a:r>
            <a:r>
              <a:rPr sz="2200">
                <a:solidFill>
                  <a:srgbClr val="000000"/>
                </a:solidFill>
                <a:latin typeface="Calibri"/>
              </a:rPr>
              <a:t>: Unstructured documents contain rich multi-column formats, dense tabular grids, and geometric layouts that defy simple reading orders.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Hallucination &amp; Layout Risks</a:t>
            </a:r>
            <a:r>
              <a:rPr sz="2200">
                <a:solidFill>
                  <a:srgbClr val="000000"/>
                </a:solidFill>
                <a:latin typeface="Calibri"/>
              </a:rPr>
              <a:t>: Semantic understanding without visual awareness leads to layout-blindness, causing critical extraction failures.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Critical Downstream Risk</a:t>
            </a:r>
            <a:r>
              <a:rPr sz="2200">
                <a:solidFill>
                  <a:srgbClr val="000000"/>
                </a:solidFill>
                <a:latin typeface="Calibri"/>
              </a:rPr>
              <a:t>: A tiny character reading error (e.g., distorting </a:t>
            </a:r>
            <a:r>
              <a:rPr b="1" sz="2200">
                <a:solidFill>
                  <a:srgbClr val="000000"/>
                </a:solidFill>
                <a:latin typeface="Calibri"/>
              </a:rPr>
              <a:t>$1,240.50</a:t>
            </a:r>
            <a:r>
              <a:rPr sz="2200">
                <a:solidFill>
                  <a:srgbClr val="000000"/>
                </a:solidFill>
                <a:latin typeface="Calibri"/>
              </a:rPr>
              <a:t> into a rounded </a:t>
            </a:r>
            <a:r>
              <a:rPr b="1" sz="2200">
                <a:solidFill>
                  <a:srgbClr val="000000"/>
                </a:solidFill>
                <a:latin typeface="Calibri"/>
              </a:rPr>
              <a:t>$1,200.00</a:t>
            </a:r>
            <a:r>
              <a:rPr sz="2200">
                <a:solidFill>
                  <a:srgbClr val="000000"/>
                </a:solidFill>
                <a:latin typeface="Calibri"/>
              </a:rPr>
              <a:t> on a scanned invoice) is not just a simple spelling mistake—it propagates into automated financial ledgers, causing catastrophic audit and compliance failures in finance and healthcare.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Research Objective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1283336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2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Addressing the Perception-Cognition Gap</a:t>
            </a:r>
            <a:r>
              <a:rPr sz="2200">
                <a:solidFill>
                  <a:srgbClr val="000000"/>
                </a:solidFill>
                <a:latin typeface="Calibri"/>
              </a:rPr>
              <a:t>: Bridging the disconnect where LLMs show advanced linguistic reasoning but fail at structural, spatial perception.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Scientific Goal</a:t>
            </a:r>
            <a:r>
              <a:rPr sz="2200">
                <a:solidFill>
                  <a:srgbClr val="000000"/>
                </a:solidFill>
                <a:latin typeface="Calibri"/>
              </a:rPr>
              <a:t>: Formulating a rigorous, systems-level reliability evaluation framework for DocVQA architectures under zero-shot conditions.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Robustness Benchmarking</a:t>
            </a:r>
            <a:r>
              <a:rPr sz="2200">
                <a:solidFill>
                  <a:srgbClr val="000000"/>
                </a:solidFill>
                <a:latin typeface="Calibri"/>
              </a:rPr>
              <a:t>: Swapping and analyzing perception modules to establish a reliable accuracy-efficiency frontier for real-world deployments.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Traditional OCR (Tesseract)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1925004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3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Heuristic Baseline</a:t>
            </a:r>
            <a:r>
              <a:rPr sz="1900">
                <a:solidFill>
                  <a:srgbClr val="000000"/>
                </a:solidFill>
                <a:latin typeface="Calibri"/>
              </a:rPr>
              <a:t>: Relies on classical layout algorithms to group and serialize characters.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Linearization Fragmentation</a:t>
            </a:r>
            <a:r>
              <a:rPr sz="1900">
                <a:solidFill>
                  <a:srgbClr val="000000"/>
                </a:solidFill>
                <a:latin typeface="Calibri"/>
              </a:rPr>
              <a:t>: Converts multi-column text horizontally into a single continuous stream, destroying reading order and paragraph alignment.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Fidelity Loss</a:t>
            </a:r>
            <a:r>
              <a:rPr sz="1900">
                <a:solidFill>
                  <a:srgbClr val="000000"/>
                </a:solidFill>
                <a:latin typeface="Calibri"/>
              </a:rPr>
              <a:t>: Separates tabular cells from headers, making spatial relation reasoning impossible.</a:t>
            </a:r>
          </a:p>
        </p:txBody>
      </p:sp>
      <p:pic>
        <p:nvPicPr>
          <p:cNvPr id="7" name="Picture 6" descr="ocr_preproce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127" y="1280160"/>
            <a:ext cx="5669280" cy="25753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50127" y="3946938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Figure 4.3: OCR Preprocessing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PaddleOCR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2566672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4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Deep-Learning Spatial Detection</a:t>
            </a:r>
            <a:r>
              <a:rPr sz="1900">
                <a:solidFill>
                  <a:srgbClr val="000000"/>
                </a:solidFill>
                <a:latin typeface="Calibri"/>
              </a:rPr>
              <a:t>: Employs an academic DBNet detector combined with SVTR recognizer for raw character mapping.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Layout Robustness</a:t>
            </a:r>
            <a:r>
              <a:rPr sz="1900">
                <a:solidFill>
                  <a:srgbClr val="000000"/>
                </a:solidFill>
                <a:latin typeface="Calibri"/>
              </a:rPr>
              <a:t>: Highly precise alphanumeric localization, minimizing character confusion.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The Cognitive Limit</a:t>
            </a:r>
            <a:r>
              <a:rPr sz="1900">
                <a:solidFill>
                  <a:srgbClr val="000000"/>
                </a:solidFill>
                <a:latin typeface="Calibri"/>
              </a:rPr>
              <a:t>: Captures characters perfectly but lacks semantic context, requiring a downstream layout reconstruction layer.</a:t>
            </a:r>
          </a:p>
        </p:txBody>
      </p:sp>
      <p:pic>
        <p:nvPicPr>
          <p:cNvPr id="7" name="Picture 6" descr="paddleocr_acad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127" y="1280160"/>
            <a:ext cx="5669280" cy="335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50127" y="47277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Figure 2.2: PaddleOCR Advanced Multi-Stage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Perception Layer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3208340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5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Layout Detection &amp; Text Localization</a:t>
            </a:r>
            <a:r>
              <a:rPr sz="1900">
                <a:solidFill>
                  <a:srgbClr val="000000"/>
                </a:solidFill>
                <a:latin typeface="Calibri"/>
              </a:rPr>
              <a:t>: Automatically mapping page regions, paragraphs, and nested table cells.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Character Grounding</a:t>
            </a:r>
            <a:r>
              <a:rPr sz="1900">
                <a:solidFill>
                  <a:srgbClr val="000000"/>
                </a:solidFill>
                <a:latin typeface="Calibri"/>
              </a:rPr>
              <a:t>: Indexing absolute 2D bounding boxes $(x_1, y_1, x_2, y_2)$ to ensure alphanumeric fidelity.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Spatial Alignment</a:t>
            </a:r>
            <a:r>
              <a:rPr sz="1900">
                <a:solidFill>
                  <a:srgbClr val="000000"/>
                </a:solidFill>
                <a:latin typeface="Calibri"/>
              </a:rPr>
              <a:t>: Preparing structured, geometry-preserved raw text streams for cognitive processing.</a:t>
            </a:r>
          </a:p>
        </p:txBody>
      </p:sp>
      <p:pic>
        <p:nvPicPr>
          <p:cNvPr id="7" name="Picture 6" descr="layout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608" y="1280160"/>
            <a:ext cx="4382317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93608" y="5669280"/>
            <a:ext cx="438231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Figure 2.3: Layout Detection and Document Structure Logic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Vision-Language Models (VLMs)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3850009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6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Multimodal Generation</a:t>
            </a:r>
            <a:r>
              <a:rPr sz="1900">
                <a:solidFill>
                  <a:srgbClr val="000000"/>
                </a:solidFill>
                <a:latin typeface="Calibri"/>
              </a:rPr>
              <a:t>: Treats document images natively as input patches, removing the need for heuristic pipelines.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Resolution-Loss Hallucination</a:t>
            </a:r>
            <a:r>
              <a:rPr sz="1900">
                <a:solidFill>
                  <a:srgbClr val="000000"/>
                </a:solidFill>
                <a:latin typeface="Calibri"/>
              </a:rPr>
              <a:t>: Fixed patch resolutions (e.g., 336x336 pixels) compress fine-grained tabular data, leading to character distortion.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The Perception Failure</a:t>
            </a:r>
            <a:r>
              <a:rPr sz="1900">
                <a:solidFill>
                  <a:srgbClr val="000000"/>
                </a:solidFill>
                <a:latin typeface="Calibri"/>
              </a:rPr>
              <a:t>: "Probabilistic guessing" of dense digits in complex zero-shot layouts due to resolution-loss and pixel alignment errors.</a:t>
            </a:r>
          </a:p>
        </p:txBody>
      </p:sp>
      <p:pic>
        <p:nvPicPr>
          <p:cNvPr id="7" name="Picture 6" descr="vlm_limi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20" y="1280160"/>
            <a:ext cx="4529093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0220" y="5669280"/>
            <a:ext cx="452909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Figure 2.4: VLM Projection Layer and Resolution Constraints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Hybrid OCR-VLM Synchronization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4491677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7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Dual-Stream Synchronization</a:t>
            </a:r>
            <a:r>
              <a:rPr sz="1900">
                <a:solidFill>
                  <a:srgbClr val="000000"/>
                </a:solidFill>
                <a:latin typeface="Calibri"/>
              </a:rPr>
              <a:t>: Merging the literal precision of PaddleOCR with the high-level semantic layout awareness of VLMs.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Perception Safety Net</a:t>
            </a:r>
            <a:r>
              <a:rPr sz="1900">
                <a:solidFill>
                  <a:srgbClr val="000000"/>
                </a:solidFill>
                <a:latin typeface="Calibri"/>
              </a:rPr>
              <a:t>: Grounding VLM spatial reasonings inside verified deterministic OCR character coordinates.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Robustness Fusing</a:t>
            </a:r>
            <a:r>
              <a:rPr sz="1900">
                <a:solidFill>
                  <a:srgbClr val="000000"/>
                </a:solidFill>
                <a:latin typeface="Calibri"/>
              </a:rPr>
              <a:t>: Drastically reduces layout confusion and generative hallucinations in zero-shot extractions.</a:t>
            </a:r>
          </a:p>
        </p:txBody>
      </p:sp>
      <p:pic>
        <p:nvPicPr>
          <p:cNvPr id="7" name="Picture 6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418" y="1280160"/>
            <a:ext cx="3406697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81418" y="5669280"/>
            <a:ext cx="340669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Figure 4.1: Advanced Global System Orchestration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RAG / Connection Layer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5133345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8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Vector Space Mapping</a:t>
            </a:r>
            <a:r>
              <a:rPr sz="1900">
                <a:solidFill>
                  <a:srgbClr val="000000"/>
                </a:solidFill>
                <a:latin typeface="Calibri"/>
              </a:rPr>
              <a:t>: Projecting layout-aware chunked documents into a FAISS vector database using `all-MiniLM-L6-v2`.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Hybrid Context Retrieval</a:t>
            </a:r>
            <a:r>
              <a:rPr sz="1900">
                <a:solidFill>
                  <a:srgbClr val="000000"/>
                </a:solidFill>
                <a:latin typeface="Calibri"/>
              </a:rPr>
              <a:t>: Querying and fetching high-relevance chunks grounded with precise spatial metadata.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Cognitive Reasoning</a:t>
            </a:r>
            <a:r>
              <a:rPr sz="1900">
                <a:solidFill>
                  <a:srgbClr val="000000"/>
                </a:solidFill>
                <a:latin typeface="Calibri"/>
              </a:rPr>
              <a:t>: Supplying localized context to the Mistral 7B Instruct reasoning engine.</a:t>
            </a:r>
          </a:p>
        </p:txBody>
      </p:sp>
      <p:pic>
        <p:nvPicPr>
          <p:cNvPr id="7" name="Picture 6" descr="rag_workflow_acad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665" y="1280160"/>
            <a:ext cx="4316204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6665" y="5669280"/>
            <a:ext cx="431620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Figure 3.1: Semantic Embedding and Vector Storage Workflow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Benchmark Framework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5775013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9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Test Corpus</a:t>
            </a:r>
            <a:r>
              <a:rPr sz="2200">
                <a:solidFill>
                  <a:srgbClr val="000000"/>
                </a:solidFill>
                <a:latin typeface="Calibri"/>
              </a:rPr>
              <a:t>: Compiled 50 high-complexity PDFs from the DocVQA validation set (dense nested tables, scan noise, multi-column designs).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Strict Zero-Shot Paradigm</a:t>
            </a:r>
            <a:r>
              <a:rPr sz="2200">
                <a:solidFill>
                  <a:srgbClr val="000000"/>
                </a:solidFill>
                <a:latin typeface="Calibri"/>
              </a:rPr>
              <a:t>: No domain-specific or layout-specific fine-tuning, evaluating raw generalization robustness.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Swappable Architecture</a:t>
            </a:r>
            <a:r>
              <a:rPr sz="2200">
                <a:solidFill>
                  <a:srgbClr val="000000"/>
                </a:solidFill>
                <a:latin typeface="Calibri"/>
              </a:rPr>
              <a:t>: Systematically isolating and measuring the impact of each perception stream under identical reasoning conditions.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ANLS Accuracy Evaluation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6416681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10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ANLS Definition</a:t>
            </a:r>
            <a:r>
              <a:rPr sz="1900">
                <a:solidFill>
                  <a:srgbClr val="000000"/>
                </a:solidFill>
                <a:latin typeface="Calibri"/>
              </a:rPr>
              <a:t>: Standard soft-spelling matching similarity metric for Document Visual QA.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N</a:t>
            </a:r>
            <a:r>
              <a:rPr sz="1900">
                <a:solidFill>
                  <a:srgbClr val="000000"/>
                </a:solidFill>
                <a:latin typeface="Calibri"/>
              </a:rPr>
              <a:t>: Total size of the evaluation corpus (here N = 50 queries).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a_i</a:t>
            </a:r>
            <a:r>
              <a:rPr sz="1900">
                <a:solidFill>
                  <a:srgbClr val="000000"/>
                </a:solidFill>
                <a:latin typeface="Calibri"/>
              </a:rPr>
              <a:t>: Predicted answer string generated by the cognitive model for query i.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g_i</a:t>
            </a:r>
            <a:r>
              <a:rPr sz="1900">
                <a:solidFill>
                  <a:srgbClr val="000000"/>
                </a:solidFill>
                <a:latin typeface="Calibri"/>
              </a:rPr>
              <a:t>: Authoritative human-verified ground truth target answer for query i.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s(a_i, g_i)</a:t>
            </a:r>
            <a:r>
              <a:rPr sz="1900">
                <a:solidFill>
                  <a:srgbClr val="000000"/>
                </a:solidFill>
                <a:latin typeface="Calibri"/>
              </a:rPr>
              <a:t>: Soft similarity score. If similarity is &lt; 0.5, score is 0 to reject hallucinations.</a:t>
            </a:r>
          </a:p>
        </p:txBody>
      </p:sp>
      <p:pic>
        <p:nvPicPr>
          <p:cNvPr id="7" name="Picture 6" descr="math_1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127" y="3166386"/>
            <a:ext cx="5669280" cy="11653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Secondary Performance Metrics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7058349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11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Exact Match (EM)</a:t>
            </a:r>
            <a:r>
              <a:rPr sz="1900">
                <a:solidFill>
                  <a:srgbClr val="000000"/>
                </a:solidFill>
                <a:latin typeface="Calibri"/>
              </a:rPr>
              <a:t>: Strictest binary accuracy requiring character-for-character agreement.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F1-Score</a:t>
            </a:r>
            <a:r>
              <a:rPr sz="1900">
                <a:solidFill>
                  <a:srgbClr val="000000"/>
                </a:solidFill>
                <a:latin typeface="Calibri"/>
              </a:rPr>
              <a:t>: Token-level harmonic mean of Precision P and Recall R measuring lexical overlap.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L_i</a:t>
            </a:r>
            <a:r>
              <a:rPr sz="1900">
                <a:solidFill>
                  <a:srgbClr val="000000"/>
                </a:solidFill>
                <a:latin typeface="Calibri"/>
              </a:rPr>
              <a:t>: System latency (seconds) to process query i through both dual-stream layers.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T_p</a:t>
            </a:r>
            <a:r>
              <a:rPr sz="1900">
                <a:solidFill>
                  <a:srgbClr val="000000"/>
                </a:solidFill>
                <a:latin typeface="Calibri"/>
              </a:rPr>
              <a:t>: System throughput indicating processed query samples per second.</a:t>
            </a:r>
          </a:p>
        </p:txBody>
      </p:sp>
      <p:pic>
        <p:nvPicPr>
          <p:cNvPr id="7" name="Picture 6" descr="math_1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465" y="1280160"/>
            <a:ext cx="4448603" cy="914400"/>
          </a:xfrm>
          <a:prstGeom prst="rect">
            <a:avLst/>
          </a:prstGeom>
        </p:spPr>
      </p:pic>
      <p:pic>
        <p:nvPicPr>
          <p:cNvPr id="8" name="Picture 7" descr="math_1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465" y="2468880"/>
            <a:ext cx="4448603" cy="914400"/>
          </a:xfrm>
          <a:prstGeom prst="rect">
            <a:avLst/>
          </a:prstGeom>
        </p:spPr>
      </p:pic>
      <p:pic>
        <p:nvPicPr>
          <p:cNvPr id="9" name="Picture 8" descr="math_11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465" y="3657600"/>
            <a:ext cx="4448603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Experimental Results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7700018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12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Empirical Breakthrough</a:t>
            </a:r>
            <a:r>
              <a:rPr sz="1900">
                <a:solidFill>
                  <a:srgbClr val="000000"/>
                </a:solidFill>
                <a:latin typeface="Calibri"/>
              </a:rPr>
              <a:t>: The proposed Hybrid model achieves the highest accuracy, outperforming standalone VLMs and OCR pipelines.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The Performance Frontier</a:t>
            </a:r>
            <a:r>
              <a:rPr sz="1900">
                <a:solidFill>
                  <a:srgbClr val="000000"/>
                </a:solidFill>
                <a:latin typeface="Calibri"/>
              </a:rPr>
              <a:t>: Validating that visual layout synchronization is essential to resolve complex DocVQA prompts.</a:t>
            </a:r>
          </a:p>
        </p:txBody>
      </p:sp>
      <p:pic>
        <p:nvPicPr>
          <p:cNvPr id="7" name="Picture 6" descr="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127" y="1280160"/>
            <a:ext cx="5669280" cy="34015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50127" y="4773168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Figure 7.2: Accuracy Benchmark Matrix (ANLS vs F1)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Performance Metrics Table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8341686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13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i="1">
                <a:solidFill>
                  <a:srgbClr val="1F77B4"/>
                </a:solidFill>
                <a:latin typeface="Calibri"/>
              </a:rPr>
              <a:t>Comprehensive Evaluation: Performance comparison across accuracy, operational latency, throughput, and system resource overhead.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i="1">
                <a:solidFill>
                  <a:srgbClr val="1F77B4"/>
                </a:solidFill>
                <a:latin typeface="Calibri"/>
              </a:rPr>
              <a:t>Accuracy vs. Efficiency: The Hybrid model achieves the highest accuracy at the cost of higher latency and RAM consumption.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72865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081"/>
                <a:gridCol w="1341081"/>
                <a:gridCol w="1341081"/>
                <a:gridCol w="1341081"/>
                <a:gridCol w="1341081"/>
                <a:gridCol w="1341081"/>
                <a:gridCol w="1341081"/>
                <a:gridCol w="1341088"/>
              </a:tblGrid>
              <a:tr h="8046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 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ANLS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Exact Match (EM)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Throughput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RAM Footprint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Search Efficiency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Hybrid (Ours)</a:t>
                      </a:r>
                    </a:p>
                  </a:txBody>
                  <a:tcPr>
                    <a:solidFill>
                      <a:srgbClr val="DCE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14.20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0.07 S/s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4600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Sub-ms (&lt;1ms)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Standalone VLM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4.20 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0.24 S/s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4100 MB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Tesseract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11.00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0.09 S/s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350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Sub-ms (&lt;1ms)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PaddleOCR RAG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52.30 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0.02 S/s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850 MB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latin typeface="Calibri"/>
                        </a:defRPr>
                      </a:pPr>
                      <a:r>
                        <a:t>Sub-ms (&lt;1ms)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3366"/>
                </a:solidFill>
                <a:latin typeface="Calibri"/>
              </a:defRPr>
            </a:pPr>
            <a:r>
              <a:t>Table 7.1: Exhaustive Performance Benchmarking Matrix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Ablation Study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8983354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14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i="1">
                <a:solidFill>
                  <a:srgbClr val="1F77B4"/>
                </a:solidFill>
                <a:latin typeface="Calibri"/>
              </a:rPr>
              <a:t>Isolating Stream Contributions: Systematic removal of layout spatial detection and character grounding streams.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500" i="1">
                <a:solidFill>
                  <a:srgbClr val="1F77B4"/>
                </a:solidFill>
                <a:latin typeface="Calibri"/>
              </a:rPr>
              <a:t>Perception Grounding Efficacy: Proves that character coordinate anchoring is the primary driver in reducing hallucination rates.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72865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Layout Detection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Text Grounding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VLM Context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ANLS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Hybrid (Full)</a:t>
                      </a:r>
                    </a:p>
                  </a:txBody>
                  <a:tcPr>
                    <a:solidFill>
                      <a:srgbClr val="DCE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No Grounding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No Layout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3366"/>
                </a:solidFill>
                <a:latin typeface="Calibri"/>
              </a:defRPr>
            </a:pPr>
            <a:r>
              <a:t>Table 7.2: Perception Component Ablation Study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Error Analysis / Case Studies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9625022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15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Low ANLS Failure Modes</a:t>
            </a:r>
            <a:r>
              <a:rPr sz="1900">
                <a:solidFill>
                  <a:srgbClr val="000000"/>
                </a:solidFill>
                <a:latin typeface="Calibri"/>
              </a:rPr>
              <a:t>: Poor document contrast, low scanning resolution, and heavily overlapping text boundaries.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Visual Evidence</a:t>
            </a:r>
            <a:r>
              <a:rPr sz="1900">
                <a:solidFill>
                  <a:srgbClr val="000000"/>
                </a:solidFill>
                <a:latin typeface="Calibri"/>
              </a:rPr>
              <a:t>: VLM resolution-loss vs. Hybrid character-grounding precision.</a:t>
            </a:r>
          </a:p>
        </p:txBody>
      </p:sp>
      <p:pic>
        <p:nvPicPr>
          <p:cNvPr id="7" name="Picture 6" descr="hallucin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927" y="1280160"/>
            <a:ext cx="429768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35927" y="566928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Figure 7.6: Visual Case Study of VLM Resolution-Loss vs. Hybrid Precision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Deployment Considerations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10266690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16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Accuracy-Efficiency Trade-off</a:t>
            </a:r>
            <a:r>
              <a:rPr sz="1900">
                <a:solidFill>
                  <a:srgbClr val="000000"/>
                </a:solidFill>
                <a:latin typeface="Calibri"/>
              </a:rPr>
              <a:t>: High-reliability synchronization demands dual neural network overhead (14.2s latency).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Memory Footprint</a:t>
            </a:r>
            <a:r>
              <a:rPr sz="1900">
                <a:solidFill>
                  <a:srgbClr val="000000"/>
                </a:solidFill>
                <a:latin typeface="Calibri"/>
              </a:rPr>
              <a:t>: Fusing multiple streams increases RSS RAM footprint (4600MB).</a:t>
            </a:r>
          </a:p>
          <a:p>
            <a:pPr>
              <a:lnSpc>
                <a:spcPct val="120000"/>
              </a:lnSpc>
              <a:spcAft>
                <a:spcPts val="1800"/>
              </a:spcAft>
            </a:pPr>
            <a:r>
              <a:rPr sz="1900">
                <a:solidFill>
                  <a:srgbClr val="000000"/>
                </a:solidFill>
                <a:latin typeface="Calibri"/>
              </a:rPr>
              <a:t/>
            </a:r>
            <a:r>
              <a:rPr b="1" sz="1900">
                <a:solidFill>
                  <a:srgbClr val="000000"/>
                </a:solidFill>
                <a:latin typeface="Calibri"/>
              </a:rPr>
              <a:t>Recommendation</a:t>
            </a:r>
            <a:r>
              <a:rPr sz="1900">
                <a:solidFill>
                  <a:srgbClr val="000000"/>
                </a:solidFill>
                <a:latin typeface="Calibri"/>
              </a:rPr>
              <a:t>: Deploy in offline mission-critical pipelines, using async processing to mitigate CPU-bound latency.</a:t>
            </a:r>
          </a:p>
        </p:txBody>
      </p:sp>
      <p:pic>
        <p:nvPicPr>
          <p:cNvPr id="7" name="Picture 6" descr="efficien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127" y="1280160"/>
            <a:ext cx="5669280" cy="3307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50127" y="467868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366"/>
                </a:solidFill>
                <a:latin typeface="Calibri"/>
              </a:defRPr>
            </a:pPr>
            <a:r>
              <a:t>Figure 7.3: Accuracy-Efficiency Frontier and Latency Inversion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10908358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17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Bridging the Gap</a:t>
            </a:r>
            <a:r>
              <a:rPr sz="2200">
                <a:solidFill>
                  <a:srgbClr val="000000"/>
                </a:solidFill>
                <a:latin typeface="Calibri"/>
              </a:rPr>
              <a:t>: Synchronized OCR-VLM architecture successfully bridges the perception-cognition disconnect.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Grounding Efficacy</a:t>
            </a:r>
            <a:r>
              <a:rPr sz="2200">
                <a:solidFill>
                  <a:srgbClr val="000000"/>
                </a:solidFill>
                <a:latin typeface="Calibri"/>
              </a:rPr>
              <a:t>: Deterministic character grounding is vital for eliminating LLM hallucinations in structured documents.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Standardized Framework</a:t>
            </a:r>
            <a:r>
              <a:rPr sz="2200">
                <a:solidFill>
                  <a:srgbClr val="000000"/>
                </a:solidFill>
                <a:latin typeface="Calibri"/>
              </a:rPr>
              <a:t>: Provides a repeatable system-level benchmark for modern Document AI research.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7295" cy="731520"/>
          </a:xfrm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  <a:latin typeface="Calibri"/>
              </a:defRPr>
            </a:pPr>
            <a:r>
              <a:t>Future Work: Multi-Agent System</a:t>
            </a:r>
          </a:p>
        </p:txBody>
      </p:sp>
      <p:sp>
        <p:nvSpPr>
          <p:cNvPr id="4" name="Octagon 3"/>
          <p:cNvSpPr/>
          <p:nvPr/>
        </p:nvSpPr>
        <p:spPr>
          <a:xfrm>
            <a:off x="0" y="6766560"/>
            <a:ext cx="11550027" cy="91440"/>
          </a:xfrm>
          <a:prstGeom prst="octagon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3366"/>
                </a:solidFill>
              </a:defRPr>
            </a:pPr>
            <a:r>
              <a:t>18 /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Agentic Pipeline Evolution</a:t>
            </a:r>
            <a:r>
              <a:rPr sz="2200">
                <a:solidFill>
                  <a:srgbClr val="000000"/>
                </a:solidFill>
                <a:latin typeface="Calibri"/>
              </a:rPr>
              <a:t>: Transitioning from a rigid pipeline to a cooperative multi-agent network.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Layout Detection Agent</a:t>
            </a:r>
            <a:r>
              <a:rPr sz="2200">
                <a:solidFill>
                  <a:srgbClr val="000000"/>
                </a:solidFill>
                <a:latin typeface="Calibri"/>
              </a:rPr>
              <a:t>: Responsible for spatial column splits, tabular boundary parsing, and geometric structure.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Text Detection &amp; OCR Agent</a:t>
            </a:r>
            <a:r>
              <a:rPr sz="2200">
                <a:solidFill>
                  <a:srgbClr val="000000"/>
                </a:solidFill>
                <a:latin typeface="Calibri"/>
              </a:rPr>
              <a:t>: Specialized in high-fidelity character recognition, raw transcription, and bounding box coordinates.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Image &amp; Visual Perception Agent</a:t>
            </a:r>
            <a:r>
              <a:rPr sz="2200">
                <a:solidFill>
                  <a:srgbClr val="000000"/>
                </a:solidFill>
                <a:latin typeface="Calibri"/>
              </a:rPr>
              <a:t>: Dedicated to understanding non-textual primitives, charts, figures, and embedded artwork.</a:t>
            </a:r>
          </a:p>
          <a:p>
            <a:pPr>
              <a:lnSpc>
                <a:spcPct val="120000"/>
              </a:lnSpc>
              <a:spcAft>
                <a:spcPts val="2400"/>
              </a:spcAft>
            </a:pPr>
            <a:r>
              <a:rPr sz="2200">
                <a:solidFill>
                  <a:srgbClr val="000000"/>
                </a:solidFill>
                <a:latin typeface="Calibri"/>
              </a:rPr>
              <a:t/>
            </a:r>
            <a:r>
              <a:rPr b="1" sz="2200">
                <a:solidFill>
                  <a:srgbClr val="000000"/>
                </a:solidFill>
                <a:latin typeface="Calibri"/>
              </a:rPr>
              <a:t>Coordinator &amp; Routing Agent</a:t>
            </a:r>
            <a:r>
              <a:rPr sz="2200">
                <a:solidFill>
                  <a:srgbClr val="000000"/>
                </a:solidFill>
                <a:latin typeface="Calibri"/>
              </a:rPr>
              <a:t>: Orchestrating agent dialogue, resolving data conflicts, and synthesizing unified factual contexts.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63040"/>
            <a:ext cx="11277295" cy="2011680"/>
          </a:xfrm>
        </p:spPr>
        <p:txBody>
          <a:bodyPr/>
          <a:lstStyle/>
          <a:p>
            <a:pPr algn="ctr">
              <a:defRPr b="1" sz="3600">
                <a:solidFill>
                  <a:srgbClr val="003366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474720"/>
            <a:ext cx="11277295" cy="2926080"/>
          </a:xfrm>
        </p:spPr>
        <p:txBody>
          <a:bodyPr/>
          <a:lstStyle/>
          <a:p>
            <a:pPr algn="ctr">
              <a:defRPr sz="1600">
                <a:solidFill>
                  <a:srgbClr val="000000"/>
                </a:solidFill>
                <a:latin typeface="Calibri"/>
              </a:defRPr>
            </a:pPr>
            <a:r>
              <a:t>Thank You for Your Attention</a:t>
            </a:r>
          </a:p>
          <a:p>
            <a:pPr algn="ctr">
              <a:defRPr sz="1600">
                <a:solidFill>
                  <a:srgbClr val="000000"/>
                </a:solidFill>
                <a:latin typeface="Calibri"/>
              </a:defRPr>
            </a:pPr>
            <a:r>
              <a:t>Questions &amp; Discussion</a:t>
            </a:r>
          </a:p>
          <a:p>
            <a:pPr algn="ctr">
              <a:defRPr sz="1600">
                <a:solidFill>
                  <a:srgbClr val="000000"/>
                </a:solidFill>
                <a:latin typeface="Calibri"/>
              </a:defRPr>
            </a:pPr>
            <a:r>
              <a:t>Tifang Desmond Ngoe</a:t>
            </a:r>
          </a:p>
          <a:p>
            <a:pPr algn="ctr">
              <a:defRPr sz="1600">
                <a:solidFill>
                  <a:srgbClr val="000000"/>
                </a:solidFill>
                <a:latin typeface="Calibri"/>
              </a:defRPr>
            </a:pPr>
            <a:r>
              <a:t>Academic Year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